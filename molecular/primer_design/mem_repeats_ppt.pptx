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0" r:id="rId6"/>
    <p:sldId id="261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84705" autoAdjust="0"/>
  </p:normalViewPr>
  <p:slideViewPr>
    <p:cSldViewPr snapToGrid="0" showGuides="1">
      <p:cViewPr>
        <p:scale>
          <a:sx n="66" d="100"/>
          <a:sy n="66" d="100"/>
        </p:scale>
        <p:origin x="1095" y="2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39E03-D9A2-43D0-AB33-08372361C21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5FDB9-BA72-4788-A29B-06A43F8504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90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635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Copy number: is the repeated regions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956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LINE : transposons</a:t>
            </a:r>
          </a:p>
          <a:p>
            <a:r>
              <a:rPr lang="en-GB" dirty="0"/>
              <a:t>Functionality of repeat is dependant on their class: Class types will have very specific repeat </a:t>
            </a:r>
            <a:r>
              <a:rPr lang="en-GB" dirty="0" err="1"/>
              <a:t>characterstic</a:t>
            </a: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56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 err="1"/>
              <a:t>Clusterisation</a:t>
            </a:r>
            <a:r>
              <a:rPr lang="en-GB" b="0" dirty="0"/>
              <a:t> of filtered repeats of </a:t>
            </a:r>
            <a:r>
              <a:rPr lang="en-GB" b="0" i="1" dirty="0"/>
              <a:t>Membranipora membranacea</a:t>
            </a:r>
            <a:r>
              <a:rPr lang="en-GB" b="0" dirty="0"/>
              <a:t> for primer design</a:t>
            </a:r>
            <a:br>
              <a:rPr lang="en-GB" b="0" dirty="0"/>
            </a:br>
            <a:endParaRPr lang="en-GB" b="0" dirty="0"/>
          </a:p>
          <a:p>
            <a:endParaRPr lang="en-GB" b="0" dirty="0"/>
          </a:p>
          <a:p>
            <a:r>
              <a:rPr lang="en-GB" b="0" dirty="0"/>
              <a:t>Filtered </a:t>
            </a:r>
            <a:r>
              <a:rPr lang="en-GB" b="0" dirty="0" err="1"/>
              <a:t>RepeatMasker</a:t>
            </a:r>
            <a:r>
              <a:rPr lang="en-GB" b="0" dirty="0"/>
              <a:t> hits (low divergence, non-simple repeats) were clustered by sequence similarity using CD-HIT-EST.</a:t>
            </a:r>
          </a:p>
          <a:p>
            <a:r>
              <a:rPr lang="en-GB" b="0" dirty="0"/>
              <a:t>The bottom panel shows the size of each cluster (number of repeats) across all clusters:</a:t>
            </a:r>
            <a:br>
              <a:rPr lang="en-GB" b="0" dirty="0"/>
            </a:br>
            <a:r>
              <a:rPr lang="en-GB" b="0" dirty="0"/>
              <a:t>– Most clusters are small, containing only a few sequences.</a:t>
            </a:r>
            <a:br>
              <a:rPr lang="en-GB" b="0" dirty="0"/>
            </a:br>
            <a:r>
              <a:rPr lang="en-GB" b="0" dirty="0"/>
              <a:t>– A few clusters are very large, with &gt;100 repeat copies.</a:t>
            </a:r>
          </a:p>
          <a:p>
            <a:r>
              <a:rPr lang="en-GB" b="0" dirty="0"/>
              <a:t>The top panel zooms into clusters 1–100 and labels the largest clusters, highlighting highly expanded repeat families.</a:t>
            </a:r>
          </a:p>
          <a:p>
            <a:r>
              <a:rPr lang="en-GB" b="0" dirty="0"/>
              <a:t>The table lists the top repeat families by copy number; these large, low-divergence families are prime candidates for repeat-based qPCR assay development (subject to specificity checks).</a:t>
            </a:r>
          </a:p>
          <a:p>
            <a:endParaRPr lang="en-GB" b="0" dirty="0"/>
          </a:p>
          <a:p>
            <a:r>
              <a:rPr lang="en-GB" b="0" dirty="0"/>
              <a:t>Make a schematic of how CD HIT works</a:t>
            </a:r>
          </a:p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78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“Sequence length distributions for two large repeat clusters. Both clusters show tight length distributions around ~X–Y bp, indicating that the repeats (plus flanks) are consistently sized – an advantage for designing primers that amplify a well-defined product across all copies in each cluster.”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520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Following blast: </a:t>
            </a:r>
            <a:r>
              <a:rPr lang="en-GB" b="1" dirty="0"/>
              <a:t>All </a:t>
            </a:r>
            <a:r>
              <a:rPr lang="en-GB" b="1" i="1" dirty="0"/>
              <a:t>in silico</a:t>
            </a:r>
            <a:r>
              <a:rPr lang="en-GB" b="1" dirty="0"/>
              <a:t> PCR products correspond to </a:t>
            </a:r>
            <a:r>
              <a:rPr lang="en-GB" b="1" i="1" dirty="0"/>
              <a:t>M. membranacea</a:t>
            </a:r>
            <a:r>
              <a:rPr lang="en-GB" b="1" dirty="0"/>
              <a:t> repeat sequences (family86_cluster).</a:t>
            </a:r>
            <a:br>
              <a:rPr lang="en-GB" dirty="0"/>
            </a:br>
            <a:r>
              <a:rPr lang="en-GB" dirty="0"/>
              <a:t>Note: pair Mm86_5 – additional hits to questionable loci (low-complexity region).</a:t>
            </a:r>
            <a:br>
              <a:rPr lang="en-GB" dirty="0"/>
            </a:br>
            <a:r>
              <a:rPr lang="en-GB" dirty="0"/>
              <a:t>No off-target products were detected in other bryozoans or common sympatric taxa in the test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5FDB9-BA72-4788-A29B-06A43F8504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99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D0E0-EB8F-526A-B972-E1DEDC42D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89C86-6303-9332-750B-C33674E5D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4007-0D62-D385-7F87-2E0865A1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615F7-8C02-3CD0-E1F1-165FD8D0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7A99-AD97-4CEF-DC73-21E1BBAE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59BB-7070-F52A-BB39-CD06EC13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B6974-7B48-5EA5-3399-6E7BF76D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39E32-0B2C-9B3E-B095-4947D06F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DDB0-FA05-7568-EE86-F7C98C23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D7722-A9CA-B53B-2CA3-FCF8460A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05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3533-CDC4-58C8-3D2C-645358BAF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8FE2F-AC77-13E0-5A97-8159EFACC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C6AAB-93EA-FFA3-77A3-8B57A12D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04E1-F92D-5429-F486-A9EF3D9C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464A7-BEC6-7B22-4B98-17BB82E4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55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A1AC-F401-A140-8DFE-17614B90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D02B-2BDB-5982-2FAB-FE1D8FBE8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349E9-5063-09F5-9C55-7D1DDCFDA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725BB-FF23-F1F5-E902-5D06AC10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E20DC-DD28-A884-E425-59219479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1BF17-7BB0-DDA9-511B-8D0416D5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29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BA20-714F-DE91-650D-3B7DF3A5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1C9E-7663-E95E-2F68-088AE244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DB350-4ECC-C2CB-0B9D-4234C2D0F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29560-E270-2076-E80B-CA60C8142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A9BDB-1FB1-218E-7773-A01FF4A83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A14C7-EC6E-519B-148B-2FE3E7608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0D075-7AD5-6E64-8ABF-9DBEBEDB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AD32C-1465-0FDC-E17B-A20E5697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79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10BB-EB08-9520-2CE7-565393EC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66731-A9BD-B963-D2CE-3DE675FE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F2D65-5DDF-EA04-906D-9EFC298B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F02FE-3E08-1806-059B-A4A29AE0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38DA7-06B1-3654-EEF5-A879F5B0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7AE90-B98E-D1F6-7491-A67A08A3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3DDB-B03A-D833-7F0B-65025CD5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52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1666-BE1B-66EA-0C5D-E50CAB1D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5E9E6-C074-8119-C563-B5DDA0584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50E8A-07D1-AEBF-EA7A-7B7766BCE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96711-A77A-B5B1-41F4-5D794079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5E55D-4720-D2E9-9B42-C6C56A20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EE571-C384-0A14-68E3-013C7A26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68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07B4-2792-98E3-E37E-696BE3E6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C7C2E-BCA9-9108-C92A-1151582AC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67A65-B017-3EF3-41BF-A3D083A5E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679A1-0DA2-D177-6E3A-4C9365F3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CE678-B8C9-AB09-FFBA-F0F2645F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4149F-4CEB-5B49-F998-A86FE097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57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8C16-887D-AB4E-2122-F67D3346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088EA-6D4F-96F5-B486-38BED5A09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3BD8-6D18-27A1-D687-7BB7012C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B8DF-0567-907C-1983-0425DDC7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5C59D-F8E6-7B45-70DC-8FA6B4AA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67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168A9-52CD-0747-4A8A-FA2FC52A3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CE75F-2B84-CF8E-7FB8-8D64B1680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3EEE0-0AEE-9020-4764-16DF3903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C5B6-7BCA-0B1F-AA78-AF3632845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4EA5C-811C-5F02-779F-839C159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F36-EF7F-69AB-BABC-163CC428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06477-47FC-9008-F209-175AA5D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06D5-63D5-7CAE-61DA-CA852269A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1A55C-2D90-44A5-A85A-1F9FA8D6F96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04235-5533-35B8-9836-B1EE57D9B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AE101-8C63-2F0F-04EF-5F5EA4F98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658AC-833D-48DD-98A1-6ADD1452E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D11A8B9-4C4C-87C1-125B-50A8BEE5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1" b="12887"/>
          <a:stretch>
            <a:fillRect/>
          </a:stretch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60231-CFE5-31DC-4183-4C15BCC75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5200">
                <a:solidFill>
                  <a:srgbClr val="FFFFFF"/>
                </a:solidFill>
              </a:rPr>
              <a:t>Membranipora membranacea; repeated repeats, repeatedly.</a:t>
            </a:r>
          </a:p>
        </p:txBody>
      </p:sp>
    </p:spTree>
    <p:extLst>
      <p:ext uri="{BB962C8B-B14F-4D97-AF65-F5344CB8AC3E}">
        <p14:creationId xmlns:p14="http://schemas.microsoft.com/office/powerpoint/2010/main" val="46081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D816-DAAA-1D70-3EC2-F74D2435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2004" cy="1325563"/>
          </a:xfrm>
        </p:spPr>
        <p:txBody>
          <a:bodyPr>
            <a:normAutofit/>
          </a:bodyPr>
          <a:lstStyle/>
          <a:p>
            <a:r>
              <a:rPr lang="en-GB" sz="3600" dirty="0"/>
              <a:t>Published </a:t>
            </a:r>
            <a:r>
              <a:rPr lang="en-GB" sz="3600" i="1" dirty="0"/>
              <a:t>M. membranacea </a:t>
            </a:r>
            <a:r>
              <a:rPr lang="en-GB" sz="3600" dirty="0"/>
              <a:t>genome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87D8-48A2-0918-AA1F-EC6106634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251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Assembly		: 	GCA_914767715.1</a:t>
            </a:r>
          </a:p>
          <a:p>
            <a:r>
              <a:rPr lang="en-GB" sz="2000" dirty="0"/>
              <a:t>Size			:	339.4 Mb</a:t>
            </a:r>
          </a:p>
          <a:p>
            <a:r>
              <a:rPr lang="en-GB" sz="2000" dirty="0"/>
              <a:t>Level		:	Chromosome</a:t>
            </a:r>
          </a:p>
          <a:p>
            <a:r>
              <a:rPr lang="en-GB" sz="2000" dirty="0"/>
              <a:t>Repeats		: 	?</a:t>
            </a:r>
          </a:p>
          <a:p>
            <a:r>
              <a:rPr lang="en-GB" sz="2000" dirty="0"/>
              <a:t>Ref:			: 	Bishop et al. (2024) 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Chromosomes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9ECDC-1A44-FD88-D576-36175F5F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942" y="4633706"/>
            <a:ext cx="5648740" cy="18591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C2F15-B313-3282-D000-B0F5AEE8881C}"/>
              </a:ext>
            </a:extLst>
          </p:cNvPr>
          <p:cNvSpPr txBox="1"/>
          <p:nvPr/>
        </p:nvSpPr>
        <p:spPr>
          <a:xfrm>
            <a:off x="0" y="6397255"/>
            <a:ext cx="7849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https://pmc.ncbi.nlm.nih.gov/articles/PMC10290214/</a:t>
            </a:r>
          </a:p>
        </p:txBody>
      </p:sp>
    </p:spTree>
    <p:extLst>
      <p:ext uri="{BB962C8B-B14F-4D97-AF65-F5344CB8AC3E}">
        <p14:creationId xmlns:p14="http://schemas.microsoft.com/office/powerpoint/2010/main" val="273650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2062-1A66-354E-AA46-7FBAE844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29" y="249810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Repeat statistics for </a:t>
            </a:r>
            <a:r>
              <a:rPr lang="en-GB" sz="3200" i="1" dirty="0"/>
              <a:t>M. membranacea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61EA-665A-8649-ED5F-F6A8C2BE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1690688"/>
            <a:ext cx="6527800" cy="4351338"/>
          </a:xfrm>
        </p:spPr>
        <p:txBody>
          <a:bodyPr>
            <a:normAutofit/>
          </a:bodyPr>
          <a:lstStyle/>
          <a:p>
            <a:r>
              <a:rPr lang="en-GB" sz="1800" dirty="0"/>
              <a:t>Packages used (Obelix) :</a:t>
            </a:r>
          </a:p>
          <a:p>
            <a:r>
              <a:rPr lang="en-GB" sz="1800" dirty="0"/>
              <a:t>De novo repeats search: </a:t>
            </a:r>
            <a:r>
              <a:rPr lang="en-GB" sz="1800" b="1" dirty="0" err="1"/>
              <a:t>RepeatModeler</a:t>
            </a:r>
            <a:r>
              <a:rPr lang="en-GB" sz="1800" b="1" dirty="0"/>
              <a:t> </a:t>
            </a:r>
            <a:r>
              <a:rPr lang="en-GB" sz="1800" dirty="0"/>
              <a:t>(Flynn et al.(2020) PNAS, 117(17), 9451-9457) . </a:t>
            </a:r>
          </a:p>
          <a:p>
            <a:r>
              <a:rPr lang="en-GB" sz="1800" dirty="0"/>
              <a:t>Repeats annotation: </a:t>
            </a:r>
            <a:r>
              <a:rPr lang="en-GB" sz="1800" dirty="0" err="1"/>
              <a:t>RepeatMasker</a:t>
            </a:r>
            <a:r>
              <a:rPr lang="en-GB" sz="1800" dirty="0"/>
              <a:t> (Chen (2004) Cur </a:t>
            </a:r>
            <a:r>
              <a:rPr lang="en-GB" sz="1800" dirty="0" err="1"/>
              <a:t>Protoc</a:t>
            </a:r>
            <a:r>
              <a:rPr lang="en-GB" sz="1800" dirty="0"/>
              <a:t>. </a:t>
            </a:r>
            <a:r>
              <a:rPr lang="en-GB" sz="1800" dirty="0" err="1"/>
              <a:t>Bioinf</a:t>
            </a:r>
            <a:r>
              <a:rPr lang="en-GB" sz="1800" dirty="0"/>
              <a:t>., 5(1), 4-10.) + </a:t>
            </a:r>
            <a:r>
              <a:rPr lang="en-GB" sz="1800" dirty="0" err="1"/>
              <a:t>Pfam</a:t>
            </a:r>
            <a:r>
              <a:rPr lang="en-GB" sz="1800" dirty="0"/>
              <a:t> database (Finn et al. (2014) NAR, 42(D1), D222-D230) + RECON (Bao, Eddy (2002) Genome Res, 12(8), 1269-1276), </a:t>
            </a:r>
            <a:r>
              <a:rPr lang="en-GB" sz="1800" dirty="0" err="1"/>
              <a:t>RepeatScout</a:t>
            </a:r>
            <a:r>
              <a:rPr lang="en-GB" sz="1800" dirty="0"/>
              <a:t> (Price et al. (2005) </a:t>
            </a:r>
            <a:r>
              <a:rPr lang="en-GB" sz="1800" dirty="0" err="1"/>
              <a:t>Bioinf</a:t>
            </a:r>
            <a:r>
              <a:rPr lang="en-GB" sz="1800" dirty="0"/>
              <a:t>., 21(suppl_1), i351-i358.) </a:t>
            </a:r>
          </a:p>
          <a:p>
            <a:r>
              <a:rPr lang="en-GB" sz="1800" dirty="0"/>
              <a:t>Search: </a:t>
            </a:r>
            <a:r>
              <a:rPr lang="en-GB" sz="1800" dirty="0" err="1"/>
              <a:t>RMBlast</a:t>
            </a: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Total number of repeats : </a:t>
            </a:r>
            <a:r>
              <a:rPr lang="en-GB" sz="1800" b="1" dirty="0"/>
              <a:t>423,110</a:t>
            </a:r>
            <a:r>
              <a:rPr lang="en-GB" sz="1800" dirty="0"/>
              <a:t>. </a:t>
            </a:r>
            <a:r>
              <a:rPr lang="en-GB" sz="1800" b="1" dirty="0"/>
              <a:t>38.13% of genome.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9" name="Picture 8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89D48C6B-7B5F-626B-4B78-9090A5D1D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909" y="1575373"/>
            <a:ext cx="4693926" cy="312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9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a number&#10;&#10;AI-generated content may be incorrect.">
            <a:extLst>
              <a:ext uri="{FF2B5EF4-FFF2-40B4-BE49-F238E27FC236}">
                <a16:creationId xmlns:a16="http://schemas.microsoft.com/office/drawing/2014/main" id="{049B95C3-5147-5F8F-C232-F264596DF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27" y="159696"/>
            <a:ext cx="5403308" cy="46314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11F249-C09B-5CEB-209F-C09CB85FE8D8}"/>
              </a:ext>
            </a:extLst>
          </p:cNvPr>
          <p:cNvSpPr txBox="1"/>
          <p:nvPr/>
        </p:nvSpPr>
        <p:spPr>
          <a:xfrm>
            <a:off x="395512" y="4826675"/>
            <a:ext cx="73914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Top 20 repeat families in </a:t>
            </a:r>
            <a:r>
              <a:rPr lang="en-GB" sz="1400" b="1" i="1" dirty="0"/>
              <a:t>Membranipora</a:t>
            </a:r>
            <a:endParaRPr lang="en-GB" sz="1400" dirty="0"/>
          </a:p>
          <a:p>
            <a:r>
              <a:rPr lang="en-GB" sz="1400" dirty="0"/>
              <a:t>Bars show the 20 most abundant repeat families ranked by copy number in the genome.</a:t>
            </a:r>
          </a:p>
          <a:p>
            <a:r>
              <a:rPr lang="en-GB" sz="1400" dirty="0"/>
              <a:t>LINE/L2 and Rex-Babar families dominate, each with </a:t>
            </a:r>
            <a:r>
              <a:rPr lang="en-GB" sz="1400" b="1" dirty="0"/>
              <a:t>&gt;7,000–9,000 copies</a:t>
            </a:r>
            <a:r>
              <a:rPr lang="en-GB" sz="1400" dirty="0"/>
              <a:t>, followed by CR1 and RTE-</a:t>
            </a:r>
            <a:r>
              <a:rPr lang="en-GB" sz="1400" dirty="0" err="1"/>
              <a:t>BovB</a:t>
            </a:r>
            <a:r>
              <a:rPr lang="en-GB" sz="1400" dirty="0"/>
              <a:t>.</a:t>
            </a:r>
          </a:p>
          <a:p>
            <a:r>
              <a:rPr lang="en-GB" sz="1400" dirty="0"/>
              <a:t>Several other LINE and DNA transposon families (e.g. Gypsy, R2-Hero, PIF-Harbinger, MULE-</a:t>
            </a:r>
            <a:r>
              <a:rPr lang="en-GB" sz="1400" dirty="0" err="1"/>
              <a:t>MuDR</a:t>
            </a:r>
            <a:r>
              <a:rPr lang="en-GB" sz="1400" dirty="0"/>
              <a:t>) also reach high copy numbers.</a:t>
            </a:r>
          </a:p>
          <a:p>
            <a:r>
              <a:rPr lang="en-GB" sz="1400" dirty="0"/>
              <a:t>These highly amplified families provide prime candidates for qPCR marker design, as primers targeting them should encounter many genomic copies per cell, boosting assay sensitivity.</a:t>
            </a:r>
          </a:p>
          <a:p>
            <a:endParaRPr lang="en-GB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66EECC-B906-DC68-D616-6E31B492B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20736"/>
              </p:ext>
            </p:extLst>
          </p:nvPr>
        </p:nvGraphicFramePr>
        <p:xfrm>
          <a:off x="5994399" y="357196"/>
          <a:ext cx="3225839" cy="4062423"/>
        </p:xfrm>
        <a:graphic>
          <a:graphicData uri="http://schemas.openxmlformats.org/drawingml/2006/table">
            <a:tbl>
              <a:tblPr/>
              <a:tblGrid>
                <a:gridCol w="747268">
                  <a:extLst>
                    <a:ext uri="{9D8B030D-6E8A-4147-A177-3AD203B41FA5}">
                      <a16:colId xmlns:a16="http://schemas.microsoft.com/office/drawing/2014/main" val="3218107543"/>
                    </a:ext>
                  </a:extLst>
                </a:gridCol>
                <a:gridCol w="1423970">
                  <a:extLst>
                    <a:ext uri="{9D8B030D-6E8A-4147-A177-3AD203B41FA5}">
                      <a16:colId xmlns:a16="http://schemas.microsoft.com/office/drawing/2014/main" val="3573149620"/>
                    </a:ext>
                  </a:extLst>
                </a:gridCol>
                <a:gridCol w="1054601">
                  <a:extLst>
                    <a:ext uri="{9D8B030D-6E8A-4147-A177-3AD203B41FA5}">
                      <a16:colId xmlns:a16="http://schemas.microsoft.com/office/drawing/2014/main" val="1989761633"/>
                    </a:ext>
                  </a:extLst>
                </a:gridCol>
              </a:tblGrid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family_id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copies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545582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9291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257125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Rex-Babar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7845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68486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232316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RTE-BovB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3110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237091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Gypsy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230431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R2-Hero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066138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118615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PIF-Harbinger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1180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338225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Ngaro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80929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CMC-EnSpm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196870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192847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MULE-MuDR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38791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Kolobok-T2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798338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Academ-1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27581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R1-LOA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02144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L1-Tx1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47467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PIF-ISL2EU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529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733563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Ginger-2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231169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Sola-1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337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266647"/>
                  </a:ext>
                </a:extLst>
              </a:tr>
              <a:tr h="105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I-Jockey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464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58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4648F17-A45F-4B54-DF99-5D9FFD131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276" y="731520"/>
            <a:ext cx="6639010" cy="474215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D80275-F6E5-9102-1ABA-C2338A4F1A5E}"/>
              </a:ext>
            </a:extLst>
          </p:cNvPr>
          <p:cNvSpPr txBox="1"/>
          <p:nvPr/>
        </p:nvSpPr>
        <p:spPr>
          <a:xfrm>
            <a:off x="379013" y="1725667"/>
            <a:ext cx="43599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Breakdown of repetitive sequence in the </a:t>
            </a:r>
            <a:r>
              <a:rPr lang="en-GB" i="1" dirty="0"/>
              <a:t>Membranipora membranacea</a:t>
            </a:r>
            <a:r>
              <a:rPr lang="en-GB" dirty="0"/>
              <a:t> genome by repeat class. DNA transposons / LINEs / LTRs (etc.) make up the bulk of the masked sequence, with additional contributions from simple and low-complexity repeats. These classes form the primary search space for high-copy, species-specific marker candidates</a:t>
            </a:r>
          </a:p>
        </p:txBody>
      </p:sp>
    </p:spTree>
    <p:extLst>
      <p:ext uri="{BB962C8B-B14F-4D97-AF65-F5344CB8AC3E}">
        <p14:creationId xmlns:p14="http://schemas.microsoft.com/office/powerpoint/2010/main" val="311200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B21B8073-68FF-6C5E-839A-A06234698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342" y="518818"/>
            <a:ext cx="5486411" cy="3657607"/>
          </a:xfrm>
          <a:prstGeom prst="rect">
            <a:avLst/>
          </a:prstGeom>
        </p:spPr>
      </p:pic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FD7D34F8-2C0E-116E-2417-97869852D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57" y="609600"/>
            <a:ext cx="5486411" cy="3951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82B1BB-C02E-7EB6-B3F9-27B8F23F2A8A}"/>
              </a:ext>
            </a:extLst>
          </p:cNvPr>
          <p:cNvSpPr txBox="1"/>
          <p:nvPr/>
        </p:nvSpPr>
        <p:spPr>
          <a:xfrm>
            <a:off x="818984" y="4794637"/>
            <a:ext cx="9509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Barplots</a:t>
            </a:r>
            <a:r>
              <a:rPr lang="en-GB" dirty="0"/>
              <a:t> show repeat abundance by class before and after filtering.</a:t>
            </a:r>
            <a:br>
              <a:rPr lang="en-GB" dirty="0"/>
            </a:br>
            <a:r>
              <a:rPr lang="en-GB" dirty="0"/>
              <a:t>Before filtering, unclassified and simple/low-complexity repeats dominate the masked portion of the genome.</a:t>
            </a:r>
            <a:br>
              <a:rPr lang="en-GB" dirty="0"/>
            </a:br>
            <a:r>
              <a:rPr lang="en-GB" dirty="0"/>
              <a:t>After removing these and retaining only DNA transposons, LINEs and LTR elements ≥100 bp  obtains a cleaner set of ‘good’ repeats suitable as candidates for high-copy qPCR marker development.</a:t>
            </a:r>
          </a:p>
        </p:txBody>
      </p:sp>
    </p:spTree>
    <p:extLst>
      <p:ext uri="{BB962C8B-B14F-4D97-AF65-F5344CB8AC3E}">
        <p14:creationId xmlns:p14="http://schemas.microsoft.com/office/powerpoint/2010/main" val="173624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 descr="A screenshot of a graph&#10;&#10;AI-generated content may be incorrect.">
            <a:extLst>
              <a:ext uri="{FF2B5EF4-FFF2-40B4-BE49-F238E27FC236}">
                <a16:creationId xmlns:a16="http://schemas.microsoft.com/office/drawing/2014/main" id="{F8C79A29-0D16-77B3-7A32-FBEEE38C8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3" y="426584"/>
            <a:ext cx="6004832" cy="600483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2EFAA5-821A-264C-AEA1-77848ED05A4F}"/>
              </a:ext>
            </a:extLst>
          </p:cNvPr>
          <p:cNvSpPr txBox="1"/>
          <p:nvPr/>
        </p:nvSpPr>
        <p:spPr>
          <a:xfrm>
            <a:off x="7039427" y="573314"/>
            <a:ext cx="46173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CD-HIT takes messy, redundant repeat sequences and groups them into non-overlapping clusters of highly similar sequences (&gt;85%), giving compact set of representative repeat families with copy numbers from which to pick high-copy families for primer design.</a:t>
            </a:r>
            <a:endParaRPr lang="en-GB" b="0" dirty="0"/>
          </a:p>
          <a:p>
            <a:endParaRPr lang="en-GB" dirty="0"/>
          </a:p>
          <a:p>
            <a:r>
              <a:rPr lang="en-GB" dirty="0"/>
              <a:t>CD-HIT clustering of filtered repeats reveals thousands of small clusters and only a few very large ones. </a:t>
            </a:r>
          </a:p>
          <a:p>
            <a:r>
              <a:rPr lang="en-GB" dirty="0"/>
              <a:t>Three clusters (#103, 7#, #34) each contain &gt;100 similar repeats, indicating highly expanded families that are promising (but not automatically safe) targets for repeat-based qPCR marker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5201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81CB4-23F0-8067-8BF8-702F6492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486" y="-60566"/>
            <a:ext cx="6955974" cy="132241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Clusterisation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of filtered repeats of </a:t>
            </a:r>
            <a:r>
              <a:rPr lang="en-US" sz="3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M. membranacea 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primer design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4" name="Picture 13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343FF9C5-DC17-EB8F-486C-3DF24773B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61" y="3985495"/>
            <a:ext cx="5333424" cy="2666712"/>
          </a:xfrm>
          <a:prstGeom prst="rect">
            <a:avLst/>
          </a:prstGeom>
        </p:spPr>
      </p:pic>
      <p:pic>
        <p:nvPicPr>
          <p:cNvPr id="16" name="Picture 15" descr="A graph of a diagram&#10;&#10;AI-generated content may be incorrect.">
            <a:extLst>
              <a:ext uri="{FF2B5EF4-FFF2-40B4-BE49-F238E27FC236}">
                <a16:creationId xmlns:a16="http://schemas.microsoft.com/office/drawing/2014/main" id="{74FCE06C-6884-497E-6EBC-C36C2C42A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5" y="1192149"/>
            <a:ext cx="5326168" cy="2663084"/>
          </a:xfrm>
          <a:prstGeom prst="rect">
            <a:avLst/>
          </a:prstGeom>
        </p:spPr>
      </p:pic>
      <p:pic>
        <p:nvPicPr>
          <p:cNvPr id="26" name="Content Placeholder 25" descr="A screenshot of a graph&#10;&#10;AI-generated content may be incorrect.">
            <a:extLst>
              <a:ext uri="{FF2B5EF4-FFF2-40B4-BE49-F238E27FC236}">
                <a16:creationId xmlns:a16="http://schemas.microsoft.com/office/drawing/2014/main" id="{C137A5D8-DB8D-491A-ADBF-27DBCF9DF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26"/>
          <a:stretch>
            <a:fillRect/>
          </a:stretch>
        </p:blipFill>
        <p:spPr>
          <a:xfrm>
            <a:off x="408500" y="221797"/>
            <a:ext cx="4351338" cy="2209346"/>
          </a:xfrm>
        </p:spPr>
      </p:pic>
      <p:pic>
        <p:nvPicPr>
          <p:cNvPr id="30" name="Picture 29" descr="A graph with a line&#10;&#10;AI-generated content may be incorrect.">
            <a:extLst>
              <a:ext uri="{FF2B5EF4-FFF2-40B4-BE49-F238E27FC236}">
                <a16:creationId xmlns:a16="http://schemas.microsoft.com/office/drawing/2014/main" id="{454103C9-D19B-EC19-7ED8-E1DFA7236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47" y="2830578"/>
            <a:ext cx="5333425" cy="26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2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4E925A-C11C-EE94-F4C3-E825165734EA}"/>
              </a:ext>
            </a:extLst>
          </p:cNvPr>
          <p:cNvSpPr txBox="1"/>
          <p:nvPr/>
        </p:nvSpPr>
        <p:spPr>
          <a:xfrm>
            <a:off x="304800" y="99060"/>
            <a:ext cx="11003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Primer design:</a:t>
            </a:r>
            <a:r>
              <a:rPr lang="en-GB" sz="1400" dirty="0"/>
              <a:t> DECIPHER (Wright et al. 2014, </a:t>
            </a:r>
            <a:r>
              <a:rPr lang="en-GB" sz="1400" i="1" dirty="0"/>
              <a:t>Environ. </a:t>
            </a:r>
            <a:r>
              <a:rPr lang="en-GB" sz="1400" i="1" dirty="0" err="1"/>
              <a:t>Microbiol</a:t>
            </a:r>
            <a:r>
              <a:rPr lang="en-GB" sz="1400" i="1" dirty="0"/>
              <a:t>.</a:t>
            </a:r>
            <a:r>
              <a:rPr lang="en-GB" sz="1400" dirty="0"/>
              <a:t> 16(5), 1354–1365), function </a:t>
            </a:r>
            <a:r>
              <a:rPr lang="en-GB" sz="1400" b="1" dirty="0" err="1"/>
              <a:t>DesignSignatures</a:t>
            </a:r>
            <a:r>
              <a:rPr lang="en-GB" sz="1400" b="1" dirty="0"/>
              <a:t>()</a:t>
            </a:r>
            <a:r>
              <a:rPr lang="en-GB" sz="1400" dirty="0"/>
              <a:t>.</a:t>
            </a:r>
            <a:br>
              <a:rPr lang="en-GB" sz="1400" dirty="0"/>
            </a:br>
            <a:r>
              <a:rPr lang="en-GB" sz="1400" dirty="0"/>
              <a:t>Parameters: 50 mM NaCl, 0.5 µM primer; product size 70–200 bp; primers designed on high-copy repeat clusters.</a:t>
            </a:r>
          </a:p>
          <a:p>
            <a:r>
              <a:rPr lang="en-GB" sz="1400" b="1" i="1" dirty="0"/>
              <a:t>In silico</a:t>
            </a:r>
            <a:r>
              <a:rPr lang="en-GB" sz="1400" b="1" dirty="0"/>
              <a:t> PCR:</a:t>
            </a:r>
            <a:r>
              <a:rPr lang="en-GB" sz="1400" dirty="0"/>
              <a:t> NCBI Primer-BLAST (Ye et al. 2012, </a:t>
            </a:r>
            <a:r>
              <a:rPr lang="en-GB" sz="1400" i="1" dirty="0"/>
              <a:t>BMC Bioinformatics</a:t>
            </a:r>
            <a:r>
              <a:rPr lang="en-GB" sz="1400" dirty="0"/>
              <a:t> 13, 134).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694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lar diagram with different colored circles&#10;&#10;AI-generated content may be incorrect.">
            <a:extLst>
              <a:ext uri="{FF2B5EF4-FFF2-40B4-BE49-F238E27FC236}">
                <a16:creationId xmlns:a16="http://schemas.microsoft.com/office/drawing/2014/main" id="{C2569392-94E2-BD6D-663B-C4DD6CC54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622" y="301166"/>
            <a:ext cx="6096012" cy="6096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83B272-6A4E-E0E8-0F61-C8D872DB64EE}"/>
              </a:ext>
            </a:extLst>
          </p:cNvPr>
          <p:cNvSpPr txBox="1"/>
          <p:nvPr/>
        </p:nvSpPr>
        <p:spPr>
          <a:xfrm>
            <a:off x="224971" y="210458"/>
            <a:ext cx="503645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circos</a:t>
            </a:r>
            <a:r>
              <a:rPr lang="en-GB" dirty="0"/>
              <a:t> plot shows genome-wide repeat density in </a:t>
            </a:r>
            <a:r>
              <a:rPr lang="en-GB" i="1" dirty="0"/>
              <a:t>Membranipora</a:t>
            </a:r>
            <a:r>
              <a:rPr lang="en-GB" dirty="0"/>
              <a:t> and highlights the three CD-HIT repeat clusters used for primer design (verticality standardised), demonstrating that they are high-copy, widely distributed elements located in strongly repeat-rich regions of the genome.</a:t>
            </a:r>
          </a:p>
          <a:p>
            <a:endParaRPr lang="en-GB" dirty="0"/>
          </a:p>
          <a:p>
            <a:r>
              <a:rPr lang="en-GB" dirty="0"/>
              <a:t>Orange &gt;50% repeats.</a:t>
            </a:r>
          </a:p>
          <a:p>
            <a:endParaRPr lang="en-GB" dirty="0"/>
          </a:p>
          <a:p>
            <a:r>
              <a:rPr lang="en-GB" dirty="0"/>
              <a:t>Orange regions indicate areas where more than 50% of the local sequence is repetitive – essentially repeat hotspots T. </a:t>
            </a:r>
          </a:p>
          <a:p>
            <a:r>
              <a:rPr lang="en-GB" dirty="0"/>
              <a:t>reassuring, because many of our high-copy clusters and target families sit within these strongly repeat-rich regions</a:t>
            </a:r>
          </a:p>
          <a:p>
            <a:endParaRPr lang="en-GB" dirty="0"/>
          </a:p>
          <a:p>
            <a:r>
              <a:rPr lang="en-GB" dirty="0"/>
              <a:t>The genome is highly repeat-rich.</a:t>
            </a:r>
          </a:p>
          <a:p>
            <a:r>
              <a:rPr lang="en-GB" dirty="0"/>
              <a:t>P</a:t>
            </a:r>
          </a:p>
          <a:p>
            <a:endParaRPr lang="en-GB" dirty="0"/>
          </a:p>
          <a:p>
            <a:r>
              <a:rPr lang="en-GB" dirty="0"/>
              <a:t>rimers are designed in the bits of the genome where repeats are densest  - exactly what we want for a sensitive qPCR assay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5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8761</TotalTime>
  <Words>1025</Words>
  <Application>Microsoft Office PowerPoint</Application>
  <PresentationFormat>Widescreen</PresentationFormat>
  <Paragraphs>124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Office Theme</vt:lpstr>
      <vt:lpstr>Membranipora membranacea; repeated repeats, repeatedly.</vt:lpstr>
      <vt:lpstr>Published M. membranacea genome assembly</vt:lpstr>
      <vt:lpstr>Repeat statistics for M. membranacea</vt:lpstr>
      <vt:lpstr>PowerPoint Presentation</vt:lpstr>
      <vt:lpstr>PowerPoint Presentation</vt:lpstr>
      <vt:lpstr>PowerPoint Presentation</vt:lpstr>
      <vt:lpstr>PowerPoint Presentation</vt:lpstr>
      <vt:lpstr>Clusterisation of filtered repeats of M. membranacea for primer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Calum Young (PGR)</dc:creator>
  <cp:lastModifiedBy>Calum Young (PGR)</cp:lastModifiedBy>
  <cp:revision>9</cp:revision>
  <dcterms:created xsi:type="dcterms:W3CDTF">2025-11-20T13:49:47Z</dcterms:created>
  <dcterms:modified xsi:type="dcterms:W3CDTF">2025-11-26T15:51:33Z</dcterms:modified>
</cp:coreProperties>
</file>