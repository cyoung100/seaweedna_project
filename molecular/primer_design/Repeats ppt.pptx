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2" r:id="rId7"/>
    <p:sldId id="263" r:id="rId8"/>
    <p:sldId id="260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EB937-5586-D9EC-E989-65C75BB3B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FD89E1-4C24-111D-5924-05A5E72FB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56029B-DF3E-1645-F1AC-1B0CB7B3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CE3F13-D6E4-6782-DC06-46D6212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4CD3C6-46BF-F393-AB44-98D4CB1E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34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F6011-2664-22AA-F7ED-4FEB14A0E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D3E41C-18B0-DB03-DC47-95FFAFA1B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C57FA7-7D0E-9FEA-41C0-84FAEB88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705C56-33D9-FE3B-55E1-F80CFD31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DDA7A-E411-84E6-6D75-7D166D401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819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63C65-72FD-E7D9-CAE0-F29EF0F3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D37D1D-47F4-2C93-C4DF-C67423B6D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77E520-C3E1-0212-947F-6EC14DDA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5CAEFB-C98F-B86C-36E7-4B2BAA81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2B85C8-3E19-CA6C-A9B7-D3777C9D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1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3FFAC-E7F2-4022-0ABE-AAA17DF3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EFB5CB-084A-17B5-C270-9A59815EB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107CCC-48D6-1AF0-2BBA-B5642D0BB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DA4AE3-6223-269A-E3AB-471CC0DF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031161-4C5F-F8A4-5E4F-E7164592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85DB40-38C9-5A3E-461F-C4A56AD1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878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2A76B-D714-5A30-53D2-9B081FFB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B491CA-2EA0-A03F-322C-25E16FE22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934338-29F1-01CD-F543-191115C31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3A4C18-B137-EFDA-324C-2FACBAB457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8DC7964-EFE9-6E24-572E-1B5BCF670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C536DA9-F406-B815-60C2-EAA6F28A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8985EBC-3327-3169-F969-768B45A3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D07758-D763-DA5B-6F73-B67769E3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092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3E5A0-48F1-FB54-1D2B-C9FF88B83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E99D42-A794-22C4-BAE3-B2ACB95D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FFFE765-01DD-257C-97DA-F692A0E4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3CD58F-506B-899C-E782-5EFB23FB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69E861-859D-1825-5DFA-197C4596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BA3F911-5C0D-7243-6200-3EA453E2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6D8A29-15B2-4D6A-EAAB-DC1682A2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52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5BA3C-B2AB-A0CA-1E53-EE281223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F99FEA-AA52-9BFE-9753-5F69AF2D9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EFDEC4-4841-91D4-317B-70776FA92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90BF57-3099-92E3-E28E-7D556E8F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448919-D9E1-E35F-B6D1-992C5745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0F0EB9-A18A-652E-A74C-C2B34961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220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E1BE6-F5D2-BD30-07AD-C21FD658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77F893B-19CB-CC55-12F4-630C8D17E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3CD031-317E-4F48-6C52-51E8AA130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CD4B7F-42EF-E1B0-3E5A-17CB3E7F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01493-E700-A6A4-0F10-5BBAF84D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B7DF40-F886-40F3-B175-3D2398F8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16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BC5B9-1356-3490-021A-61656DF2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6C102E-0AA2-FAB0-07CD-EB0BB7BF1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94C1E6-276F-6CBB-CF1D-F912D9CD3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9E8A11-273A-ED95-7E0A-12EB8C4C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85D93F-0F20-0C97-1C92-D0CD4FFC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0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879209B-99B2-9F56-A621-D72A17EBE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B1C1CD-E909-0DF4-1459-4B8CBDFE4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3479D2-0E36-052E-7933-5700AED4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B635A9-CA90-A29A-0E9D-5809A8FDC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306C6A-510B-ABCA-3069-DCB3F225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44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01B14-06B5-BE9A-7C8C-5C6337D5C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F20551-D2EC-44F8-9BDF-050D2697D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ED31F-284F-3E6C-8F85-2C5775155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72878-5BA6-4132-9406-B8D9012F74CD}" type="datetimeFigureOut">
              <a:rPr lang="ru-RU" smtClean="0"/>
              <a:t>13.05.2025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5FDE79-7AFC-9BE6-9326-D98A48B54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DDEDC-CE81-77A9-7A5B-88BC0FBF0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21204-1E50-474B-8C5C-0C09A6982F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68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5C379-D6EF-FDA0-9B9A-B73DF9F54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B4B5FF-A598-1BB7-04CE-3B02C3F1E6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72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98673-2984-F9D4-0BED-C77101F76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49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Published </a:t>
            </a:r>
            <a:r>
              <a:rPr lang="en-US" i="1" dirty="0" err="1"/>
              <a:t>Lepeophtheirus</a:t>
            </a:r>
            <a:r>
              <a:rPr lang="en-US" i="1" dirty="0"/>
              <a:t> </a:t>
            </a:r>
            <a:r>
              <a:rPr lang="en-US" i="1" dirty="0" err="1"/>
              <a:t>salmonis</a:t>
            </a:r>
            <a:r>
              <a:rPr lang="en-US" i="1" dirty="0"/>
              <a:t> </a:t>
            </a:r>
            <a:r>
              <a:rPr lang="en-US" dirty="0"/>
              <a:t>genome assemblies (from the NCBI GenBank) 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CDFE02C-C3CD-2EC8-E6BA-0E73BB8F60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0023907"/>
              </p:ext>
            </p:extLst>
          </p:nvPr>
        </p:nvGraphicFramePr>
        <p:xfrm>
          <a:off x="838200" y="1376057"/>
          <a:ext cx="10675374" cy="3061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168">
                  <a:extLst>
                    <a:ext uri="{9D8B030D-6E8A-4147-A177-3AD203B41FA5}">
                      <a16:colId xmlns:a16="http://schemas.microsoft.com/office/drawing/2014/main" val="2037034308"/>
                    </a:ext>
                  </a:extLst>
                </a:gridCol>
                <a:gridCol w="1071716">
                  <a:extLst>
                    <a:ext uri="{9D8B030D-6E8A-4147-A177-3AD203B41FA5}">
                      <a16:colId xmlns:a16="http://schemas.microsoft.com/office/drawing/2014/main" val="140284871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1616979039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567460500"/>
                    </a:ext>
                  </a:extLst>
                </a:gridCol>
                <a:gridCol w="4031226">
                  <a:extLst>
                    <a:ext uri="{9D8B030D-6E8A-4147-A177-3AD203B41FA5}">
                      <a16:colId xmlns:a16="http://schemas.microsoft.com/office/drawing/2014/main" val="955582372"/>
                    </a:ext>
                  </a:extLst>
                </a:gridCol>
                <a:gridCol w="668593">
                  <a:extLst>
                    <a:ext uri="{9D8B030D-6E8A-4147-A177-3AD203B41FA5}">
                      <a16:colId xmlns:a16="http://schemas.microsoft.com/office/drawing/2014/main" val="346353900"/>
                    </a:ext>
                  </a:extLst>
                </a:gridCol>
              </a:tblGrid>
              <a:tr h="465987">
                <a:tc>
                  <a:txBody>
                    <a:bodyPr/>
                    <a:lstStyle/>
                    <a:p>
                      <a:r>
                        <a:rPr lang="en-US" dirty="0"/>
                        <a:t>Assembly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Size, Mb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Repeats, 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368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UVic_Lsal_1.4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647.1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Chromosome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56.67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Joshi et al. (2022) </a:t>
                      </a:r>
                      <a:r>
                        <a:rPr lang="pt-BR" i="1" dirty="0"/>
                        <a:t>G3</a:t>
                      </a:r>
                      <a:r>
                        <a:rPr lang="pt-BR" dirty="0"/>
                        <a:t>, 12(6), jkac087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51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LSAL_IOA00-2.0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Chromosome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694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LSAL_IOA00_R2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Chromosome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990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lsal_atl_canada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665.1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6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lsal_atl_canada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665.3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07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ASM18125v2 (!)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790.1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22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Our genome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Chromosome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747388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124755-3D33-5291-FB05-BC7D27103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53086"/>
            <a:ext cx="7878274" cy="1971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2F4830-BDCF-C39C-4224-8379DD23F1C4}"/>
              </a:ext>
            </a:extLst>
          </p:cNvPr>
          <p:cNvSpPr txBox="1"/>
          <p:nvPr/>
        </p:nvSpPr>
        <p:spPr>
          <a:xfrm>
            <a:off x="1189703" y="4509995"/>
            <a:ext cx="5378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Chromosomes (nuclear) + 1 mitochondrial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86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B1EC8-1D6D-C378-FD08-A4669320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881852" cy="1021223"/>
          </a:xfrm>
        </p:spPr>
        <p:txBody>
          <a:bodyPr>
            <a:normAutofit/>
          </a:bodyPr>
          <a:lstStyle/>
          <a:p>
            <a:r>
              <a:rPr lang="en-US" sz="3200" dirty="0"/>
              <a:t>Repetitive elements for identification of </a:t>
            </a:r>
            <a:r>
              <a:rPr lang="en-US" sz="3200" i="1" dirty="0" err="1"/>
              <a:t>Lepeophtheirus</a:t>
            </a:r>
            <a:r>
              <a:rPr lang="en-US" sz="3200" i="1" dirty="0"/>
              <a:t> </a:t>
            </a:r>
            <a:r>
              <a:rPr lang="en-US" sz="3200" i="1" dirty="0" err="1"/>
              <a:t>salmonis</a:t>
            </a:r>
            <a:endParaRPr lang="ru-RU" sz="3200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39F6E9-BB37-4B7F-C2FC-F50133F8C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19" y="1238757"/>
            <a:ext cx="5130901" cy="309726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Some repeats are species-specific, serving as molecular markers for identifying species.</a:t>
            </a:r>
          </a:p>
          <a:p>
            <a:endParaRPr lang="en-US" sz="2400" dirty="0"/>
          </a:p>
          <a:p>
            <a:endParaRPr lang="en-US" sz="2400" dirty="0"/>
          </a:p>
          <a:p>
            <a:pPr algn="just"/>
            <a:r>
              <a:rPr lang="en-US" sz="2400" dirty="0"/>
              <a:t>Repetitive elements are abundant. This can make them easier to detect and amplify.</a:t>
            </a:r>
            <a:endParaRPr lang="ru-RU" sz="2400" dirty="0"/>
          </a:p>
        </p:txBody>
      </p:sp>
      <p:pic>
        <p:nvPicPr>
          <p:cNvPr id="1026" name="Picture 2" descr="Circos plot of salmon lice genome assembly. Linkage groups with marks... |  Download Scientific Diagram">
            <a:extLst>
              <a:ext uri="{FF2B5EF4-FFF2-40B4-BE49-F238E27FC236}">
                <a16:creationId xmlns:a16="http://schemas.microsoft.com/office/drawing/2014/main" id="{ACD78718-D223-080A-5C8A-7F771C3CA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221" y="914401"/>
            <a:ext cx="6762652" cy="517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69168-E884-58FA-6254-96F21BB337E0}"/>
              </a:ext>
            </a:extLst>
          </p:cNvPr>
          <p:cNvSpPr txBox="1"/>
          <p:nvPr/>
        </p:nvSpPr>
        <p:spPr>
          <a:xfrm>
            <a:off x="576416" y="4610769"/>
            <a:ext cx="57027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effectLst/>
                <a:latin typeface="g_d0_f5"/>
              </a:rPr>
              <a:t>Circos</a:t>
            </a:r>
            <a:r>
              <a:rPr lang="en-US" dirty="0">
                <a:effectLst/>
                <a:latin typeface="g_d0_f5"/>
              </a:rPr>
              <a:t> plot of </a:t>
            </a:r>
            <a:r>
              <a:rPr lang="en-US" i="1" dirty="0">
                <a:effectLst/>
                <a:latin typeface="g_d0_f5"/>
              </a:rPr>
              <a:t>L. </a:t>
            </a:r>
            <a:r>
              <a:rPr lang="en-US" i="1" dirty="0" err="1">
                <a:effectLst/>
                <a:latin typeface="g_d0_f5"/>
              </a:rPr>
              <a:t>salmonis</a:t>
            </a:r>
            <a:r>
              <a:rPr lang="en-US" i="1" dirty="0">
                <a:effectLst/>
                <a:latin typeface="g_d0_f5"/>
              </a:rPr>
              <a:t> </a:t>
            </a:r>
            <a:r>
              <a:rPr lang="en-US" dirty="0">
                <a:effectLst/>
                <a:latin typeface="g_d0_f5"/>
              </a:rPr>
              <a:t>genome assembly. </a:t>
            </a:r>
            <a:r>
              <a:rPr lang="en-US" b="1" dirty="0">
                <a:effectLst/>
                <a:latin typeface="g_d0_f5"/>
              </a:rPr>
              <a:t>(</a:t>
            </a:r>
            <a:r>
              <a:rPr lang="en-US" b="1" dirty="0" err="1">
                <a:effectLst/>
                <a:latin typeface="g_d0_f5"/>
              </a:rPr>
              <a:t>i</a:t>
            </a:r>
            <a:r>
              <a:rPr lang="en-US" b="1" dirty="0">
                <a:effectLst/>
                <a:latin typeface="g_d0_f5"/>
              </a:rPr>
              <a:t>) </a:t>
            </a:r>
            <a:r>
              <a:rPr lang="en-US" dirty="0">
                <a:effectLst/>
                <a:latin typeface="g_d0_f5"/>
              </a:rPr>
              <a:t>The ratio of repetitive elements within10 kb windows. Orange points are greater than 0.5 (top half). From [</a:t>
            </a:r>
            <a:r>
              <a:rPr lang="pt-BR" dirty="0"/>
              <a:t>Joshi et al. (2022) </a:t>
            </a:r>
            <a:r>
              <a:rPr lang="pt-BR" i="1" dirty="0"/>
              <a:t>G3</a:t>
            </a:r>
            <a:r>
              <a:rPr lang="pt-BR" dirty="0"/>
              <a:t>, 12(6), jkac087</a:t>
            </a:r>
            <a:r>
              <a:rPr lang="en-US" dirty="0">
                <a:effectLst/>
                <a:latin typeface="g_d0_f5"/>
              </a:rPr>
              <a:t>].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00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8D51-4A4F-E5D9-E8A5-3D3DA87F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3897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Repeat statistics for the  </a:t>
            </a:r>
            <a:r>
              <a:rPr lang="en-US" sz="3200" i="1" dirty="0" err="1"/>
              <a:t>Lepeophtheirus</a:t>
            </a:r>
            <a:r>
              <a:rPr lang="en-US" sz="3200" i="1" dirty="0"/>
              <a:t> </a:t>
            </a:r>
            <a:r>
              <a:rPr lang="en-US" sz="3200" i="1" dirty="0" err="1"/>
              <a:t>salmonis</a:t>
            </a:r>
            <a:r>
              <a:rPr lang="en-US" sz="3200" i="1" dirty="0"/>
              <a:t> </a:t>
            </a:r>
            <a:r>
              <a:rPr lang="en-US" sz="3200" dirty="0"/>
              <a:t>genome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A5A8F4-2772-D7F5-EBC9-AAD5FCD00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754" y="737418"/>
            <a:ext cx="6602330" cy="2392995"/>
          </a:xfrm>
        </p:spPr>
        <p:txBody>
          <a:bodyPr>
            <a:normAutofit/>
          </a:bodyPr>
          <a:lstStyle/>
          <a:p>
            <a:r>
              <a:rPr lang="en-US" sz="1600" i="1" u="sng" dirty="0"/>
              <a:t>De novo </a:t>
            </a:r>
            <a:r>
              <a:rPr lang="en-US" sz="1600" u="sng" dirty="0"/>
              <a:t>repeats search: </a:t>
            </a:r>
            <a:r>
              <a:rPr lang="en-US" sz="1600" b="1" dirty="0" err="1"/>
              <a:t>RepeatModeler</a:t>
            </a:r>
            <a:r>
              <a:rPr lang="en-US" sz="1600" dirty="0"/>
              <a:t> (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Flynn et al.(2020) 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PNAS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117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(17), 9451-9457</a:t>
            </a:r>
            <a:r>
              <a:rPr lang="en-US" sz="1600" dirty="0"/>
              <a:t>) .</a:t>
            </a:r>
          </a:p>
          <a:p>
            <a:pPr algn="just"/>
            <a:r>
              <a:rPr lang="en-US" sz="1600" u="sng" dirty="0"/>
              <a:t>Repeats annotation: </a:t>
            </a:r>
            <a:r>
              <a:rPr lang="en-US" sz="1600" b="1" dirty="0" err="1"/>
              <a:t>RepeatMasker</a:t>
            </a:r>
            <a:r>
              <a:rPr lang="en-US" sz="1600" dirty="0"/>
              <a:t> (Chen (2004) </a:t>
            </a:r>
            <a:r>
              <a:rPr lang="en-US" sz="1600" i="1" dirty="0"/>
              <a:t>Cur </a:t>
            </a:r>
            <a:r>
              <a:rPr lang="en-US" sz="1600" i="1" dirty="0" err="1"/>
              <a:t>Protoc</a:t>
            </a:r>
            <a:r>
              <a:rPr lang="en-US" sz="1600" i="1" dirty="0"/>
              <a:t>. </a:t>
            </a:r>
            <a:r>
              <a:rPr lang="en-US" sz="1600" i="1" dirty="0" err="1"/>
              <a:t>Bioinf</a:t>
            </a:r>
            <a:r>
              <a:rPr lang="en-US" sz="1600" i="1" dirty="0"/>
              <a:t>.</a:t>
            </a:r>
            <a:r>
              <a:rPr lang="en-US" sz="1600" dirty="0"/>
              <a:t>, 5(1), 4-10.) + </a:t>
            </a:r>
            <a:r>
              <a:rPr lang="en-US" sz="1600" dirty="0" err="1"/>
              <a:t>Pfam</a:t>
            </a:r>
            <a:r>
              <a:rPr lang="en-US" sz="1600" dirty="0"/>
              <a:t> database (Finn et al. (2014) </a:t>
            </a:r>
            <a:r>
              <a:rPr lang="en-US" sz="1600" i="1" dirty="0"/>
              <a:t>NAR</a:t>
            </a:r>
            <a:r>
              <a:rPr lang="en-US" sz="1600" dirty="0"/>
              <a:t>, 42(D1), D222-D230) + RECON (Bao, Eddy (2002) </a:t>
            </a:r>
            <a:r>
              <a:rPr lang="en-US" sz="1600" i="1" dirty="0"/>
              <a:t>Genome Res</a:t>
            </a:r>
            <a:r>
              <a:rPr lang="en-US" sz="1600" dirty="0"/>
              <a:t>, 12(8), 1269-1276), </a:t>
            </a:r>
            <a:r>
              <a:rPr lang="en-US" sz="1600" dirty="0" err="1"/>
              <a:t>RepeatScout</a:t>
            </a:r>
            <a:r>
              <a:rPr lang="en-US" sz="1600" dirty="0"/>
              <a:t> (Price et al. (2005) </a:t>
            </a:r>
            <a:r>
              <a:rPr lang="en-US" sz="1600" i="1" dirty="0" err="1"/>
              <a:t>Bioinf</a:t>
            </a:r>
            <a:r>
              <a:rPr lang="en-US" sz="1600" i="1" dirty="0"/>
              <a:t>.</a:t>
            </a:r>
            <a:r>
              <a:rPr lang="en-US" sz="1600" dirty="0"/>
              <a:t>, 21(suppl_1), i351-i358.) </a:t>
            </a:r>
          </a:p>
          <a:p>
            <a:r>
              <a:rPr lang="en-US" sz="1600" dirty="0"/>
              <a:t>Search: </a:t>
            </a:r>
            <a:r>
              <a:rPr lang="en-US" sz="1600" dirty="0" err="1"/>
              <a:t>RMBlast</a:t>
            </a:r>
            <a:r>
              <a:rPr lang="en-US" sz="1600" dirty="0"/>
              <a:t>.</a:t>
            </a:r>
            <a:endParaRPr lang="ru-RU" sz="1600" dirty="0"/>
          </a:p>
        </p:txBody>
      </p:sp>
      <p:pic>
        <p:nvPicPr>
          <p:cNvPr id="5" name="Рисунок 4" descr="Изображение выглядит как текст, График, диаграмма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B29DAA2-29EF-E175-F861-00FB2FC9B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19" y="3381230"/>
            <a:ext cx="3793650" cy="318976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FC8F0A-9C49-B0AF-C5BD-574802845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59"/>
          <a:stretch/>
        </p:blipFill>
        <p:spPr>
          <a:xfrm>
            <a:off x="680014" y="3592181"/>
            <a:ext cx="3245257" cy="3008670"/>
          </a:xfrm>
          <a:prstGeom prst="rect">
            <a:avLst/>
          </a:prstGeom>
        </p:spPr>
      </p:pic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8D7373A9-A383-3840-64FB-1E07F6865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672220"/>
              </p:ext>
            </p:extLst>
          </p:nvPr>
        </p:nvGraphicFramePr>
        <p:xfrm>
          <a:off x="7067619" y="809561"/>
          <a:ext cx="4286181" cy="220980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516920">
                  <a:extLst>
                    <a:ext uri="{9D8B030D-6E8A-4147-A177-3AD203B41FA5}">
                      <a16:colId xmlns:a16="http://schemas.microsoft.com/office/drawing/2014/main" val="1271336126"/>
                    </a:ext>
                  </a:extLst>
                </a:gridCol>
                <a:gridCol w="1305257">
                  <a:extLst>
                    <a:ext uri="{9D8B030D-6E8A-4147-A177-3AD203B41FA5}">
                      <a16:colId xmlns:a16="http://schemas.microsoft.com/office/drawing/2014/main" val="2717356256"/>
                    </a:ext>
                  </a:extLst>
                </a:gridCol>
                <a:gridCol w="1464004">
                  <a:extLst>
                    <a:ext uri="{9D8B030D-6E8A-4147-A177-3AD203B41FA5}">
                      <a16:colId xmlns:a16="http://schemas.microsoft.com/office/drawing/2014/main" val="114803056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Class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Number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Total Length, nt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3647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Unknown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747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631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247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696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234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4275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DNA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462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125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124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140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232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535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LINE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85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600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27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346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479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9824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LTR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25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727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10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474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434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4931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Simple_repeat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125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568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591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053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6818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Low_complexity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20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184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905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882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9476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RC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418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864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458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7289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>
                          <a:effectLst/>
                        </a:rPr>
                        <a:t>rRNA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>
                          <a:effectLst/>
                        </a:rPr>
                        <a:t>417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59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983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6102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u="none" strike="noStrike" dirty="0">
                          <a:effectLst/>
                        </a:rPr>
                        <a:t>snRNA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mpd="sng">
                      <a:noFill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84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T w="12700" cmpd="sng">
                      <a:noFill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 dirty="0">
                          <a:effectLst/>
                        </a:rPr>
                        <a:t>11</a:t>
                      </a:r>
                      <a:r>
                        <a:rPr lang="en-US" sz="1400" u="none" strike="noStrike" dirty="0">
                          <a:effectLst/>
                        </a:rPr>
                        <a:t>,</a:t>
                      </a:r>
                      <a:r>
                        <a:rPr lang="ru-RU" sz="1400" u="none" strike="noStrike" dirty="0">
                          <a:effectLst/>
                        </a:rPr>
                        <a:t>883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52831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05A65B9-4880-3BE5-F95E-1C0DEE622A79}"/>
              </a:ext>
            </a:extLst>
          </p:cNvPr>
          <p:cNvSpPr txBox="1"/>
          <p:nvPr/>
        </p:nvSpPr>
        <p:spPr>
          <a:xfrm>
            <a:off x="493559" y="2629733"/>
            <a:ext cx="56712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Total of </a:t>
            </a:r>
            <a:r>
              <a:rPr lang="ru-RU" b="1" dirty="0">
                <a:solidFill>
                  <a:srgbClr val="FF0000"/>
                </a:solidFill>
              </a:rPr>
              <a:t>2471754</a:t>
            </a:r>
            <a:r>
              <a:rPr lang="en-US" b="1" dirty="0">
                <a:solidFill>
                  <a:srgbClr val="FF0000"/>
                </a:solidFill>
              </a:rPr>
              <a:t> repeats.</a:t>
            </a:r>
          </a:p>
          <a:p>
            <a:r>
              <a:rPr lang="en-US" b="1" dirty="0">
                <a:solidFill>
                  <a:srgbClr val="FF0000"/>
                </a:solidFill>
              </a:rPr>
              <a:t>Total of 416.1 Mb of 623.5 Mb (66.7% of the genome). Reference genome: 56.7%. </a:t>
            </a:r>
            <a:endParaRPr lang="ru-RU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2929FE4-8CA1-9808-2201-FEB7454FA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313504"/>
              </p:ext>
            </p:extLst>
          </p:nvPr>
        </p:nvGraphicFramePr>
        <p:xfrm>
          <a:off x="7816869" y="3432851"/>
          <a:ext cx="4178486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387">
                  <a:extLst>
                    <a:ext uri="{9D8B030D-6E8A-4147-A177-3AD203B41FA5}">
                      <a16:colId xmlns:a16="http://schemas.microsoft.com/office/drawing/2014/main" val="3073862887"/>
                    </a:ext>
                  </a:extLst>
                </a:gridCol>
                <a:gridCol w="1579492">
                  <a:extLst>
                    <a:ext uri="{9D8B030D-6E8A-4147-A177-3AD203B41FA5}">
                      <a16:colId xmlns:a16="http://schemas.microsoft.com/office/drawing/2014/main" val="3734493324"/>
                    </a:ext>
                  </a:extLst>
                </a:gridCol>
                <a:gridCol w="412955">
                  <a:extLst>
                    <a:ext uri="{9D8B030D-6E8A-4147-A177-3AD203B41FA5}">
                      <a16:colId xmlns:a16="http://schemas.microsoft.com/office/drawing/2014/main" val="4037916203"/>
                    </a:ext>
                  </a:extLst>
                </a:gridCol>
                <a:gridCol w="1661652">
                  <a:extLst>
                    <a:ext uri="{9D8B030D-6E8A-4147-A177-3AD203B41FA5}">
                      <a16:colId xmlns:a16="http://schemas.microsoft.com/office/drawing/2014/main" val="271753026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Family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Family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3269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Unknown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DNA/hAT-hAT-19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2967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DNA/TcMar-Tc1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</a:t>
                      </a:r>
                      <a:r>
                        <a:rPr lang="en-US" sz="1200" dirty="0"/>
                        <a:t>-Ac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0811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LINE/L1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DNA/hAT-Tip100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693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DNA/P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DNA/MULE-</a:t>
                      </a:r>
                      <a:r>
                        <a:rPr lang="en-US" sz="1200" dirty="0" err="1"/>
                        <a:t>MuDR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3827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LTR/Gypsy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LTR/Pao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965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hAT-nAT.m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LINE/CR1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08458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TcMar-Marinner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DNA/CMC-Chapaev-3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5313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</a:t>
                      </a:r>
                      <a:r>
                        <a:rPr lang="en-US" sz="1200" dirty="0"/>
                        <a:t>-Charlie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DNA/Sola-2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862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DNA/PiggyBac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DNA/CMC-</a:t>
                      </a:r>
                      <a:r>
                        <a:rPr lang="en-US" sz="1200" dirty="0" err="1"/>
                        <a:t>Chapaev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816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LINE/R1-LOA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DNA-???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49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07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7262F-91D2-5F35-258F-40EC93A89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55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Filtering: how to select ‘good’ repeats for the identification task</a:t>
            </a:r>
            <a:endParaRPr lang="ru-RU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A155EC-A5A3-043C-AE8D-146F2AB58D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8894" y="845575"/>
                <a:ext cx="11453337" cy="22577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Repeats should be</a:t>
                </a:r>
              </a:p>
              <a:p>
                <a:r>
                  <a:rPr lang="en-US" sz="1600" dirty="0"/>
                  <a:t>abundant,</a:t>
                </a:r>
              </a:p>
              <a:p>
                <a:r>
                  <a:rPr lang="en-US" sz="1600" dirty="0"/>
                  <a:t>low-divergent (measured as the Kimura distance, </a:t>
                </a:r>
                <a:r>
                  <a:rPr lang="en-US" sz="1600" i="1" dirty="0"/>
                  <a:t>K</a:t>
                </a:r>
                <a:r>
                  <a:rPr lang="en-US" sz="1600" dirty="0"/>
                  <a:t>),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1−2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1−2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600" dirty="0"/>
                  <a:t>,</a:t>
                </a:r>
                <a:r>
                  <a:rPr lang="en-US" sz="1600" i="1" dirty="0"/>
                  <a:t> P </a:t>
                </a:r>
                <a:r>
                  <a:rPr lang="en-US" sz="1600" dirty="0"/>
                  <a:t>and </a:t>
                </a:r>
                <a:r>
                  <a:rPr lang="en-US" sz="1600" i="1" dirty="0"/>
                  <a:t>Q</a:t>
                </a:r>
                <a:r>
                  <a:rPr lang="en-US" sz="1600" dirty="0"/>
                  <a:t> are proportions of transitions and transversions, respectively,</a:t>
                </a:r>
              </a:p>
              <a:p>
                <a:r>
                  <a:rPr lang="en-US" sz="1600" dirty="0"/>
                  <a:t>non-simple.</a:t>
                </a:r>
                <a:endParaRPr lang="ru-RU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3A155EC-A5A3-043C-AE8D-146F2AB58D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894" y="845575"/>
                <a:ext cx="11453337" cy="2257701"/>
              </a:xfrm>
              <a:blipFill>
                <a:blip r:embed="rId2"/>
                <a:stretch>
                  <a:fillRect l="-319" t="-18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85B18351-00EB-9FFE-E9D4-5F1912FDC9F1}"/>
              </a:ext>
            </a:extLst>
          </p:cNvPr>
          <p:cNvGrpSpPr/>
          <p:nvPr/>
        </p:nvGrpSpPr>
        <p:grpSpPr>
          <a:xfrm>
            <a:off x="493449" y="2970989"/>
            <a:ext cx="11205101" cy="1127789"/>
            <a:chOff x="229815" y="3069312"/>
            <a:chExt cx="11205101" cy="1127789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5EA50052-F0A5-A917-C759-727F54D5CE59}"/>
                </a:ext>
              </a:extLst>
            </p:cNvPr>
            <p:cNvSpPr/>
            <p:nvPr/>
          </p:nvSpPr>
          <p:spPr>
            <a:xfrm>
              <a:off x="229815" y="3074164"/>
              <a:ext cx="2369461" cy="1112095"/>
            </a:xfrm>
            <a:prstGeom prst="roundRect">
              <a:avLst/>
            </a:prstGeom>
            <a:solidFill>
              <a:srgbClr val="156082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1) Input data</a:t>
              </a:r>
              <a:endParaRPr lang="ru-RU" dirty="0"/>
            </a:p>
          </p:txBody>
        </p:sp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1FA111BC-061B-3E05-8A95-19A5FEE8F42F}"/>
                </a:ext>
              </a:extLst>
            </p:cNvPr>
            <p:cNvSpPr/>
            <p:nvPr/>
          </p:nvSpPr>
          <p:spPr>
            <a:xfrm>
              <a:off x="3078218" y="3069312"/>
              <a:ext cx="2369461" cy="1112095"/>
            </a:xfrm>
            <a:prstGeom prst="roundRect">
              <a:avLst/>
            </a:prstGeom>
            <a:solidFill>
              <a:srgbClr val="156082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2) Filtering of low complexity repeats and microsatellites</a:t>
              </a:r>
              <a:endParaRPr lang="ru-RU" dirty="0"/>
            </a:p>
          </p:txBody>
        </p:sp>
        <p:sp>
          <p:nvSpPr>
            <p:cNvPr id="6" name="Стрелка: вправо 5">
              <a:extLst>
                <a:ext uri="{FF2B5EF4-FFF2-40B4-BE49-F238E27FC236}">
                  <a16:creationId xmlns:a16="http://schemas.microsoft.com/office/drawing/2014/main" id="{3741826F-4FAE-55EC-5F9A-8AFCD62BDA45}"/>
                </a:ext>
              </a:extLst>
            </p:cNvPr>
            <p:cNvSpPr/>
            <p:nvPr/>
          </p:nvSpPr>
          <p:spPr>
            <a:xfrm rot="10800000" flipH="1">
              <a:off x="2599276" y="3459756"/>
              <a:ext cx="465267" cy="336058"/>
            </a:xfrm>
            <a:prstGeom prst="rightArrow">
              <a:avLst/>
            </a:prstGeom>
            <a:solidFill>
              <a:srgbClr val="15608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9E6590D2-955A-AC17-74DB-B927C153B6EF}"/>
                </a:ext>
              </a:extLst>
            </p:cNvPr>
            <p:cNvSpPr/>
            <p:nvPr/>
          </p:nvSpPr>
          <p:spPr>
            <a:xfrm>
              <a:off x="5912946" y="3085006"/>
              <a:ext cx="2369461" cy="1112095"/>
            </a:xfrm>
            <a:prstGeom prst="roundRect">
              <a:avLst/>
            </a:prstGeom>
            <a:solidFill>
              <a:srgbClr val="156082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3) Selection of high-abundant repeats (take top 20 families)</a:t>
              </a:r>
              <a:endParaRPr lang="ru-RU" dirty="0"/>
            </a:p>
          </p:txBody>
        </p:sp>
        <p:sp>
          <p:nvSpPr>
            <p:cNvPr id="8" name="Стрелка: вправо 7">
              <a:extLst>
                <a:ext uri="{FF2B5EF4-FFF2-40B4-BE49-F238E27FC236}">
                  <a16:creationId xmlns:a16="http://schemas.microsoft.com/office/drawing/2014/main" id="{51B68872-0220-9CA9-88C5-C209B0DE4A04}"/>
                </a:ext>
              </a:extLst>
            </p:cNvPr>
            <p:cNvSpPr/>
            <p:nvPr/>
          </p:nvSpPr>
          <p:spPr>
            <a:xfrm rot="10800000" flipH="1">
              <a:off x="5447679" y="3473025"/>
              <a:ext cx="465267" cy="336058"/>
            </a:xfrm>
            <a:prstGeom prst="rightArrow">
              <a:avLst/>
            </a:prstGeom>
            <a:solidFill>
              <a:srgbClr val="15608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Стрелка: вправо 8">
              <a:extLst>
                <a:ext uri="{FF2B5EF4-FFF2-40B4-BE49-F238E27FC236}">
                  <a16:creationId xmlns:a16="http://schemas.microsoft.com/office/drawing/2014/main" id="{0EDB0ECE-1F42-F32F-BAD1-A677942A211C}"/>
                </a:ext>
              </a:extLst>
            </p:cNvPr>
            <p:cNvSpPr/>
            <p:nvPr/>
          </p:nvSpPr>
          <p:spPr>
            <a:xfrm rot="10800000" flipH="1">
              <a:off x="8296082" y="3476462"/>
              <a:ext cx="465267" cy="336058"/>
            </a:xfrm>
            <a:prstGeom prst="rightArrow">
              <a:avLst/>
            </a:prstGeom>
            <a:solidFill>
              <a:srgbClr val="15608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EB088945-F055-1B03-27FF-F1A2F2F68B16}"/>
                </a:ext>
              </a:extLst>
            </p:cNvPr>
            <p:cNvSpPr/>
            <p:nvPr/>
          </p:nvSpPr>
          <p:spPr>
            <a:xfrm>
              <a:off x="8775024" y="3085006"/>
              <a:ext cx="2659892" cy="1112095"/>
            </a:xfrm>
            <a:prstGeom prst="roundRect">
              <a:avLst/>
            </a:prstGeom>
            <a:solidFill>
              <a:srgbClr val="156082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4) Selection of low-divergence reads (&lt;5 %)</a:t>
              </a:r>
              <a:endParaRPr lang="ru-RU" dirty="0"/>
            </a:p>
          </p:txBody>
        </p:sp>
      </p:grp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842FBB5-538A-3B7F-343C-5B7C11A72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276503"/>
              </p:ext>
            </p:extLst>
          </p:nvPr>
        </p:nvGraphicFramePr>
        <p:xfrm>
          <a:off x="138894" y="4770388"/>
          <a:ext cx="11876125" cy="1470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500">
                  <a:extLst>
                    <a:ext uri="{9D8B030D-6E8A-4147-A177-3AD203B41FA5}">
                      <a16:colId xmlns:a16="http://schemas.microsoft.com/office/drawing/2014/main" val="4175482896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4068444211"/>
                    </a:ext>
                  </a:extLst>
                </a:gridCol>
                <a:gridCol w="1376516">
                  <a:extLst>
                    <a:ext uri="{9D8B030D-6E8A-4147-A177-3AD203B41FA5}">
                      <a16:colId xmlns:a16="http://schemas.microsoft.com/office/drawing/2014/main" val="3127495461"/>
                    </a:ext>
                  </a:extLst>
                </a:gridCol>
                <a:gridCol w="1278194">
                  <a:extLst>
                    <a:ext uri="{9D8B030D-6E8A-4147-A177-3AD203B41FA5}">
                      <a16:colId xmlns:a16="http://schemas.microsoft.com/office/drawing/2014/main" val="2481687318"/>
                    </a:ext>
                  </a:extLst>
                </a:gridCol>
                <a:gridCol w="1632154">
                  <a:extLst>
                    <a:ext uri="{9D8B030D-6E8A-4147-A177-3AD203B41FA5}">
                      <a16:colId xmlns:a16="http://schemas.microsoft.com/office/drawing/2014/main" val="961586129"/>
                    </a:ext>
                  </a:extLst>
                </a:gridCol>
                <a:gridCol w="1238865">
                  <a:extLst>
                    <a:ext uri="{9D8B030D-6E8A-4147-A177-3AD203B41FA5}">
                      <a16:colId xmlns:a16="http://schemas.microsoft.com/office/drawing/2014/main" val="3490030096"/>
                    </a:ext>
                  </a:extLst>
                </a:gridCol>
                <a:gridCol w="1494503">
                  <a:extLst>
                    <a:ext uri="{9D8B030D-6E8A-4147-A177-3AD203B41FA5}">
                      <a16:colId xmlns:a16="http://schemas.microsoft.com/office/drawing/2014/main" val="756248094"/>
                    </a:ext>
                  </a:extLst>
                </a:gridCol>
                <a:gridCol w="1582994">
                  <a:extLst>
                    <a:ext uri="{9D8B030D-6E8A-4147-A177-3AD203B41FA5}">
                      <a16:colId xmlns:a16="http://schemas.microsoft.com/office/drawing/2014/main" val="3492487185"/>
                    </a:ext>
                  </a:extLst>
                </a:gridCol>
                <a:gridCol w="1170038">
                  <a:extLst>
                    <a:ext uri="{9D8B030D-6E8A-4147-A177-3AD203B41FA5}">
                      <a16:colId xmlns:a16="http://schemas.microsoft.com/office/drawing/2014/main" val="4095050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Filtering low complexity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Selection of top20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Low-divergent only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213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368664"/>
                  </a:ext>
                </a:extLst>
              </a:tr>
              <a:tr h="35779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Repeats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2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471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100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2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326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318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35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711083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Size (</a:t>
                      </a:r>
                      <a:r>
                        <a:rPr lang="en-US" sz="1400" dirty="0" err="1"/>
                        <a:t>nt</a:t>
                      </a:r>
                      <a:r>
                        <a:rPr lang="en-US" sz="1400" dirty="0"/>
                        <a:t>)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416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090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100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410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593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.7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53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245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7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792</a:t>
                      </a:r>
                      <a:r>
                        <a:rPr lang="en-US" sz="1400" dirty="0">
                          <a:latin typeface="+mn-lt"/>
                        </a:rPr>
                        <a:t>,</a:t>
                      </a:r>
                      <a:r>
                        <a:rPr lang="ru-RU" sz="1400" dirty="0">
                          <a:latin typeface="+mn-lt"/>
                        </a:rPr>
                        <a:t>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350892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82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FA34-B87E-46A6-8DD8-D896C7DD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FBE38-C25B-56B4-0AAA-8210245F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55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Filtering: how to select ‘good’ repeats for the identification task</a:t>
            </a:r>
            <a:endParaRPr lang="ru-RU" sz="3200" b="1" dirty="0"/>
          </a:p>
        </p:txBody>
      </p:sp>
      <p:pic>
        <p:nvPicPr>
          <p:cNvPr id="13" name="Рисунок 12" descr="Изображение выглядит как текст, снимок экрана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2A0259A-0761-904C-B26F-C48B4232E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59"/>
          <a:stretch/>
        </p:blipFill>
        <p:spPr>
          <a:xfrm>
            <a:off x="430612" y="1504870"/>
            <a:ext cx="4229875" cy="3804221"/>
          </a:xfrm>
          <a:prstGeom prst="rect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CF82D3BF-8B98-A4E2-E530-18ACBC1232A8}"/>
              </a:ext>
            </a:extLst>
          </p:cNvPr>
          <p:cNvCxnSpPr>
            <a:cxnSpLocks/>
          </p:cNvCxnSpPr>
          <p:nvPr/>
        </p:nvCxnSpPr>
        <p:spPr>
          <a:xfrm>
            <a:off x="79752" y="1407815"/>
            <a:ext cx="468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D639671E-5F08-9E19-86EF-0D70F9248E68}"/>
              </a:ext>
            </a:extLst>
          </p:cNvPr>
          <p:cNvCxnSpPr>
            <a:cxnSpLocks/>
          </p:cNvCxnSpPr>
          <p:nvPr/>
        </p:nvCxnSpPr>
        <p:spPr>
          <a:xfrm>
            <a:off x="4931975" y="1407815"/>
            <a:ext cx="381873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2F66534-BA7E-C7ED-0A15-62DEF7B227F1}"/>
              </a:ext>
            </a:extLst>
          </p:cNvPr>
          <p:cNvSpPr txBox="1"/>
          <p:nvPr/>
        </p:nvSpPr>
        <p:spPr>
          <a:xfrm>
            <a:off x="4863146" y="1053801"/>
            <a:ext cx="4393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After filtering</a:t>
            </a:r>
            <a:endParaRPr lang="ru-RU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6C4E78-2AFD-A02B-C38A-7CDD1706E9C1}"/>
              </a:ext>
            </a:extLst>
          </p:cNvPr>
          <p:cNvSpPr txBox="1"/>
          <p:nvPr/>
        </p:nvSpPr>
        <p:spPr>
          <a:xfrm>
            <a:off x="158902" y="1077811"/>
            <a:ext cx="4393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Before filtering</a:t>
            </a:r>
            <a:endParaRPr lang="ru-RU" b="1" dirty="0"/>
          </a:p>
        </p:txBody>
      </p:sp>
      <p:pic>
        <p:nvPicPr>
          <p:cNvPr id="4" name="Рисунок 3" descr="Изображение выглядит как снимок экрана, Красочность, диаграмма, прямоуго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43E34D4-B9FE-0BB5-222C-C1F454D77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94"/>
          <a:stretch/>
        </p:blipFill>
        <p:spPr>
          <a:xfrm>
            <a:off x="4863147" y="1583531"/>
            <a:ext cx="3710579" cy="3693367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FDE2417-5EB7-F3E0-F6EB-2384AEED4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357342"/>
              </p:ext>
            </p:extLst>
          </p:nvPr>
        </p:nvGraphicFramePr>
        <p:xfrm>
          <a:off x="157937" y="5273174"/>
          <a:ext cx="118761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500">
                  <a:extLst>
                    <a:ext uri="{9D8B030D-6E8A-4147-A177-3AD203B41FA5}">
                      <a16:colId xmlns:a16="http://schemas.microsoft.com/office/drawing/2014/main" val="1515598265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3503347714"/>
                    </a:ext>
                  </a:extLst>
                </a:gridCol>
                <a:gridCol w="1376516">
                  <a:extLst>
                    <a:ext uri="{9D8B030D-6E8A-4147-A177-3AD203B41FA5}">
                      <a16:colId xmlns:a16="http://schemas.microsoft.com/office/drawing/2014/main" val="2046620530"/>
                    </a:ext>
                  </a:extLst>
                </a:gridCol>
                <a:gridCol w="1278194">
                  <a:extLst>
                    <a:ext uri="{9D8B030D-6E8A-4147-A177-3AD203B41FA5}">
                      <a16:colId xmlns:a16="http://schemas.microsoft.com/office/drawing/2014/main" val="3063264045"/>
                    </a:ext>
                  </a:extLst>
                </a:gridCol>
                <a:gridCol w="1632154">
                  <a:extLst>
                    <a:ext uri="{9D8B030D-6E8A-4147-A177-3AD203B41FA5}">
                      <a16:colId xmlns:a16="http://schemas.microsoft.com/office/drawing/2014/main" val="709932371"/>
                    </a:ext>
                  </a:extLst>
                </a:gridCol>
                <a:gridCol w="1238865">
                  <a:extLst>
                    <a:ext uri="{9D8B030D-6E8A-4147-A177-3AD203B41FA5}">
                      <a16:colId xmlns:a16="http://schemas.microsoft.com/office/drawing/2014/main" val="3010807902"/>
                    </a:ext>
                  </a:extLst>
                </a:gridCol>
                <a:gridCol w="1494503">
                  <a:extLst>
                    <a:ext uri="{9D8B030D-6E8A-4147-A177-3AD203B41FA5}">
                      <a16:colId xmlns:a16="http://schemas.microsoft.com/office/drawing/2014/main" val="3153030559"/>
                    </a:ext>
                  </a:extLst>
                </a:gridCol>
                <a:gridCol w="1582994">
                  <a:extLst>
                    <a:ext uri="{9D8B030D-6E8A-4147-A177-3AD203B41FA5}">
                      <a16:colId xmlns:a16="http://schemas.microsoft.com/office/drawing/2014/main" val="899870350"/>
                    </a:ext>
                  </a:extLst>
                </a:gridCol>
                <a:gridCol w="1170038">
                  <a:extLst>
                    <a:ext uri="{9D8B030D-6E8A-4147-A177-3AD203B41FA5}">
                      <a16:colId xmlns:a16="http://schemas.microsoft.com/office/drawing/2014/main" val="211176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Input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Filtering low complexity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Selection of top20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Low-divergent only</a:t>
                      </a:r>
                      <a:endParaRPr lang="ru-R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99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 of initial</a:t>
                      </a:r>
                      <a:endParaRPr lang="ru-RU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57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Families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7486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100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3885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51.9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20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+mn-lt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58861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Classes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9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100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7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77.8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5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55.6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+mn-lt"/>
                        </a:rPr>
                        <a:t>5</a:t>
                      </a:r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55.6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188040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924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1A42B-2973-3983-55A9-7383485CA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8B920-9FE8-D102-4124-D1D2A82A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55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 err="1"/>
              <a:t>Clusterisation</a:t>
            </a:r>
            <a:r>
              <a:rPr lang="en-US" sz="3200" b="1" dirty="0"/>
              <a:t> of filtered repeats of </a:t>
            </a:r>
            <a:r>
              <a:rPr lang="en-US" sz="3200" b="1" i="1" dirty="0" err="1"/>
              <a:t>Lepeophtheirus</a:t>
            </a:r>
            <a:r>
              <a:rPr lang="en-US" sz="3200" b="1" i="1" dirty="0"/>
              <a:t> </a:t>
            </a:r>
            <a:r>
              <a:rPr lang="en-US" sz="3200" b="1" i="1" dirty="0" err="1"/>
              <a:t>salmonis</a:t>
            </a:r>
            <a:endParaRPr lang="ru-RU" sz="32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E2F14-E240-6717-2601-5C908341F17F}"/>
              </a:ext>
            </a:extLst>
          </p:cNvPr>
          <p:cNvSpPr txBox="1"/>
          <p:nvPr/>
        </p:nvSpPr>
        <p:spPr>
          <a:xfrm>
            <a:off x="442451" y="776352"/>
            <a:ext cx="10589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Sequences were clustered by </a:t>
            </a:r>
            <a:r>
              <a:rPr lang="ru-RU" b="1" dirty="0"/>
              <a:t>CD-HIT-EST  </a:t>
            </a:r>
            <a:r>
              <a:rPr lang="en-US" dirty="0"/>
              <a:t>(</a:t>
            </a:r>
            <a:r>
              <a:rPr lang="ru-RU" dirty="0" err="1"/>
              <a:t>Huang</a:t>
            </a:r>
            <a:r>
              <a:rPr lang="en-US" dirty="0"/>
              <a:t> et al. </a:t>
            </a:r>
            <a:r>
              <a:rPr lang="ru-RU" dirty="0"/>
              <a:t>(2010) </a:t>
            </a:r>
            <a:r>
              <a:rPr lang="ru-RU" dirty="0" err="1"/>
              <a:t>Bioinformatics</a:t>
            </a:r>
            <a:r>
              <a:rPr lang="ru-RU" dirty="0"/>
              <a:t>, 26(5), 680-682</a:t>
            </a:r>
            <a:r>
              <a:rPr lang="en-US" dirty="0"/>
              <a:t>).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C0744-677B-5DEF-7609-2F0098266E9F}"/>
              </a:ext>
            </a:extLst>
          </p:cNvPr>
          <p:cNvSpPr txBox="1"/>
          <p:nvPr/>
        </p:nvSpPr>
        <p:spPr>
          <a:xfrm>
            <a:off x="285134" y="1179474"/>
            <a:ext cx="1136609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ru-RU" b="1" dirty="0" err="1"/>
              <a:t>cd-hit-est</a:t>
            </a:r>
            <a:r>
              <a:rPr lang="ru-RU" dirty="0"/>
              <a:t> </a:t>
            </a:r>
            <a:r>
              <a:rPr lang="ru-RU" b="1" dirty="0"/>
              <a:t>-i </a:t>
            </a:r>
            <a:r>
              <a:rPr lang="ru-RU" dirty="0"/>
              <a:t>~/</a:t>
            </a:r>
            <a:r>
              <a:rPr lang="ru-RU" dirty="0" err="1"/>
              <a:t>priming_regions.fasta</a:t>
            </a:r>
            <a:r>
              <a:rPr lang="ru-RU" dirty="0"/>
              <a:t> </a:t>
            </a:r>
            <a:r>
              <a:rPr lang="ru-RU" b="1" dirty="0"/>
              <a:t>-o</a:t>
            </a:r>
            <a:r>
              <a:rPr lang="ru-RU" dirty="0"/>
              <a:t> ~/</a:t>
            </a:r>
            <a:r>
              <a:rPr lang="ru-RU" dirty="0" err="1"/>
              <a:t>Repeats</a:t>
            </a:r>
            <a:r>
              <a:rPr lang="ru-RU" dirty="0"/>
              <a:t>/</a:t>
            </a:r>
            <a:r>
              <a:rPr lang="ru-RU" dirty="0" err="1"/>
              <a:t>cd_hit</a:t>
            </a:r>
            <a:r>
              <a:rPr lang="ru-RU" dirty="0"/>
              <a:t>/clustered_top20.fasta </a:t>
            </a:r>
            <a:r>
              <a:rPr lang="ru-RU" b="1" dirty="0"/>
              <a:t>-c</a:t>
            </a:r>
            <a:r>
              <a:rPr lang="ru-RU" dirty="0"/>
              <a:t> 0.85 </a:t>
            </a:r>
            <a:r>
              <a:rPr lang="ru-RU" b="1" dirty="0"/>
              <a:t>-n</a:t>
            </a:r>
            <a:r>
              <a:rPr lang="ru-RU" dirty="0"/>
              <a:t> 8 </a:t>
            </a:r>
            <a:r>
              <a:rPr lang="ru-RU" b="1" dirty="0"/>
              <a:t>-T</a:t>
            </a:r>
            <a:r>
              <a:rPr lang="ru-RU" dirty="0"/>
              <a:t> 4 </a:t>
            </a:r>
            <a:r>
              <a:rPr lang="ru-RU" b="1" dirty="0"/>
              <a:t>-M</a:t>
            </a:r>
            <a:r>
              <a:rPr lang="ru-RU" dirty="0"/>
              <a:t> 16000 </a:t>
            </a:r>
            <a:r>
              <a:rPr lang="ru-RU" b="1" dirty="0"/>
              <a:t>-d</a:t>
            </a:r>
            <a:r>
              <a:rPr lang="ru-RU" dirty="0"/>
              <a:t> 0</a:t>
            </a:r>
            <a:endParaRPr lang="en-US" dirty="0"/>
          </a:p>
          <a:p>
            <a:r>
              <a:rPr lang="en-US" dirty="0"/>
              <a:t># </a:t>
            </a:r>
            <a:r>
              <a:rPr lang="ru-RU" b="1" dirty="0"/>
              <a:t>-c</a:t>
            </a:r>
            <a:r>
              <a:rPr lang="en-US" b="1" dirty="0"/>
              <a:t>:</a:t>
            </a:r>
            <a:r>
              <a:rPr lang="en-US" dirty="0"/>
              <a:t> homology threshold, </a:t>
            </a:r>
            <a:r>
              <a:rPr lang="ru-RU" b="1" dirty="0"/>
              <a:t>-n</a:t>
            </a:r>
            <a:r>
              <a:rPr lang="en-US" b="1" dirty="0"/>
              <a:t>: </a:t>
            </a:r>
            <a:r>
              <a:rPr lang="en-US" dirty="0"/>
              <a:t>k-</a:t>
            </a:r>
            <a:r>
              <a:rPr lang="en-US" dirty="0" err="1"/>
              <a:t>mer</a:t>
            </a:r>
            <a:r>
              <a:rPr lang="en-US" dirty="0"/>
              <a:t> size,</a:t>
            </a:r>
            <a:r>
              <a:rPr lang="en-US" b="1" dirty="0"/>
              <a:t> -T: </a:t>
            </a:r>
            <a:r>
              <a:rPr lang="en-US" dirty="0"/>
              <a:t>number of CPU threads.</a:t>
            </a:r>
            <a:endParaRPr lang="ru-RU" dirty="0"/>
          </a:p>
        </p:txBody>
      </p:sp>
      <p:pic>
        <p:nvPicPr>
          <p:cNvPr id="10" name="Рисунок 9" descr="Изображение выглядит как текст, снимок экрана, дисплей, Прямоуголь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03E41DF-1BDC-D823-9155-A2F82DB04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08"/>
          <a:stretch/>
        </p:blipFill>
        <p:spPr>
          <a:xfrm>
            <a:off x="108155" y="1826164"/>
            <a:ext cx="7325032" cy="50318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6543AB-E0E1-0918-D5A9-15EAA882F341}"/>
              </a:ext>
            </a:extLst>
          </p:cNvPr>
          <p:cNvSpPr txBox="1"/>
          <p:nvPr/>
        </p:nvSpPr>
        <p:spPr>
          <a:xfrm>
            <a:off x="7403691" y="1898526"/>
            <a:ext cx="48374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1600" b="1" dirty="0">
                <a:solidFill>
                  <a:srgbClr val="FF0000"/>
                </a:solidFill>
              </a:rPr>
              <a:t>3</a:t>
            </a:r>
            <a:r>
              <a:rPr lang="en-US" sz="1600" b="1" dirty="0">
                <a:solidFill>
                  <a:srgbClr val="FF0000"/>
                </a:solidFill>
              </a:rPr>
              <a:t>5,363</a:t>
            </a:r>
            <a:r>
              <a:rPr lang="uk-UA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>
                <a:solidFill>
                  <a:srgbClr val="FF0000"/>
                </a:solidFill>
              </a:rPr>
              <a:t>repeat sequences in 33,275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Only two large clusters (&gt;100): #32 and #34.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All sequences are from the family DNA/hAT-19.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B086E2D-D0A6-A319-C164-D3C927CBDD5F}"/>
              </a:ext>
            </a:extLst>
          </p:cNvPr>
          <p:cNvGrpSpPr/>
          <p:nvPr/>
        </p:nvGrpSpPr>
        <p:grpSpPr>
          <a:xfrm>
            <a:off x="3510018" y="1919749"/>
            <a:ext cx="3628099" cy="2546555"/>
            <a:chOff x="2202328" y="2836648"/>
            <a:chExt cx="3628099" cy="2546555"/>
          </a:xfrm>
        </p:grpSpPr>
        <p:pic>
          <p:nvPicPr>
            <p:cNvPr id="12" name="Рисунок 11" descr="Изображение выглядит как текст, снимок экрана, диаграмма, Прямоугольник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183996D4-4FE3-E35C-C6BC-BF360A9C2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263" r="4113"/>
            <a:stretch/>
          </p:blipFill>
          <p:spPr>
            <a:xfrm>
              <a:off x="2202328" y="2836648"/>
              <a:ext cx="3628099" cy="2546555"/>
            </a:xfrm>
            <a:prstGeom prst="rect">
              <a:avLst/>
            </a:prstGeom>
          </p:spPr>
        </p:pic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3A6BB600-30F1-BC1E-2F8F-351F2C1A9960}"/>
                </a:ext>
              </a:extLst>
            </p:cNvPr>
            <p:cNvCxnSpPr/>
            <p:nvPr/>
          </p:nvCxnSpPr>
          <p:spPr>
            <a:xfrm flipH="1">
              <a:off x="3618271" y="3283974"/>
              <a:ext cx="511277" cy="4424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32669791-2040-0BCE-03B7-8692BF4C1C74}"/>
                </a:ext>
              </a:extLst>
            </p:cNvPr>
            <p:cNvCxnSpPr/>
            <p:nvPr/>
          </p:nvCxnSpPr>
          <p:spPr>
            <a:xfrm flipH="1">
              <a:off x="3711578" y="4333588"/>
              <a:ext cx="511277" cy="4424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5B6CA9-CE12-24F7-5058-CB0CD1F40A38}"/>
                </a:ext>
              </a:extLst>
            </p:cNvPr>
            <p:cNvSpPr txBox="1"/>
            <p:nvPr/>
          </p:nvSpPr>
          <p:spPr>
            <a:xfrm>
              <a:off x="4129548" y="3089164"/>
              <a:ext cx="14719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#32: 547 repeats</a:t>
              </a:r>
              <a:endParaRPr lang="ru-RU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B814723-A535-1079-AAA1-C9A4010F6540}"/>
                </a:ext>
              </a:extLst>
            </p:cNvPr>
            <p:cNvSpPr txBox="1"/>
            <p:nvPr/>
          </p:nvSpPr>
          <p:spPr>
            <a:xfrm>
              <a:off x="4240451" y="4109925"/>
              <a:ext cx="13860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#34: 101 repeat</a:t>
              </a:r>
              <a:endParaRPr lang="ru-RU" sz="1400" dirty="0"/>
            </a:p>
          </p:txBody>
        </p:sp>
      </p:grp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BC2B61C-F7AF-FB4D-6607-5B5A7D3B3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756854"/>
              </p:ext>
            </p:extLst>
          </p:nvPr>
        </p:nvGraphicFramePr>
        <p:xfrm>
          <a:off x="7568668" y="3500803"/>
          <a:ext cx="4178486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387">
                  <a:extLst>
                    <a:ext uri="{9D8B030D-6E8A-4147-A177-3AD203B41FA5}">
                      <a16:colId xmlns:a16="http://schemas.microsoft.com/office/drawing/2014/main" val="3073862887"/>
                    </a:ext>
                  </a:extLst>
                </a:gridCol>
                <a:gridCol w="1579492">
                  <a:extLst>
                    <a:ext uri="{9D8B030D-6E8A-4147-A177-3AD203B41FA5}">
                      <a16:colId xmlns:a16="http://schemas.microsoft.com/office/drawing/2014/main" val="3734493324"/>
                    </a:ext>
                  </a:extLst>
                </a:gridCol>
                <a:gridCol w="412955">
                  <a:extLst>
                    <a:ext uri="{9D8B030D-6E8A-4147-A177-3AD203B41FA5}">
                      <a16:colId xmlns:a16="http://schemas.microsoft.com/office/drawing/2014/main" val="4037916203"/>
                    </a:ext>
                  </a:extLst>
                </a:gridCol>
                <a:gridCol w="1661652">
                  <a:extLst>
                    <a:ext uri="{9D8B030D-6E8A-4147-A177-3AD203B41FA5}">
                      <a16:colId xmlns:a16="http://schemas.microsoft.com/office/drawing/2014/main" val="271753026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Family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#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Family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32696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Unknown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DNA/hAT-hAT-19</a:t>
                      </a:r>
                      <a:endParaRPr lang="ru-RU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2967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DNA/TcMar-Tc1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</a:t>
                      </a:r>
                      <a:r>
                        <a:rPr lang="en-US" sz="1200" dirty="0"/>
                        <a:t>-Ac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0811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LINE/L1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DNA/hAT-Tip100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693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DNA/P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DNA/MULE-</a:t>
                      </a:r>
                      <a:r>
                        <a:rPr lang="en-US" sz="1200" dirty="0" err="1"/>
                        <a:t>MuDR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3827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LTR/Gypsy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LTR/Pao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965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hAT-nAT.m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LINE/CR1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08458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TcMar-Marinner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DNA/CMC-Chapaev-3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5313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</a:t>
                      </a:r>
                      <a:r>
                        <a:rPr lang="en-US" sz="1200" dirty="0" err="1"/>
                        <a:t>hAT</a:t>
                      </a:r>
                      <a:r>
                        <a:rPr lang="en-US" sz="1200" dirty="0"/>
                        <a:t>-Charlie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DNA/Sola-2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862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DNA/PiggyBac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DNA/CMC-</a:t>
                      </a:r>
                      <a:r>
                        <a:rPr lang="en-US" sz="1200" dirty="0" err="1"/>
                        <a:t>Chapaev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816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LINE/R1-LOA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DNA-???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4972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2F5E27-D64B-197A-271F-1819C1219726}"/>
              </a:ext>
            </a:extLst>
          </p:cNvPr>
          <p:cNvSpPr txBox="1"/>
          <p:nvPr/>
        </p:nvSpPr>
        <p:spPr>
          <a:xfrm>
            <a:off x="7568668" y="2729523"/>
            <a:ext cx="46724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Flashback</a:t>
            </a:r>
            <a:r>
              <a:rPr lang="en-US" sz="1600" dirty="0"/>
              <a:t>: </a:t>
            </a:r>
            <a:r>
              <a:rPr lang="ru-RU" sz="1600" dirty="0"/>
              <a:t>р</a:t>
            </a:r>
            <a:r>
              <a:rPr lang="en-US" sz="1600" dirty="0"/>
              <a:t>high abundance does not guarantee that this target is suitable. </a:t>
            </a:r>
          </a:p>
        </p:txBody>
      </p:sp>
    </p:spTree>
    <p:extLst>
      <p:ext uri="{BB962C8B-B14F-4D97-AF65-F5344CB8AC3E}">
        <p14:creationId xmlns:p14="http://schemas.microsoft.com/office/powerpoint/2010/main" val="787952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371F9-49C1-77C6-B64F-76ED4DE46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70" y="84573"/>
            <a:ext cx="10515600" cy="6612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 err="1"/>
              <a:t>Clusterisation</a:t>
            </a:r>
            <a:r>
              <a:rPr lang="en-US" sz="2800" b="1" dirty="0"/>
              <a:t> of filtered repeats of </a:t>
            </a:r>
            <a:r>
              <a:rPr lang="en-US" sz="2800" b="1" i="1" dirty="0" err="1"/>
              <a:t>Lepeophtheirus</a:t>
            </a:r>
            <a:r>
              <a:rPr lang="en-US" sz="2800" b="1" i="1" dirty="0"/>
              <a:t> </a:t>
            </a:r>
            <a:r>
              <a:rPr lang="en-US" sz="2800" b="1" i="1" dirty="0" err="1"/>
              <a:t>salmonis</a:t>
            </a:r>
            <a:r>
              <a:rPr lang="en-US" sz="2800" b="1" i="1" dirty="0"/>
              <a:t> </a:t>
            </a:r>
            <a:r>
              <a:rPr lang="en-US" sz="2800" b="1" dirty="0"/>
              <a:t>for primer design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66F403-7354-414A-9022-D5B1F9009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4" name="Рисунок 33" descr="Изображение выглядит как График, текст, диаграмма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39289C3-CE7E-5C34-DBB7-FC30EB98D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82" y="1105770"/>
            <a:ext cx="5521227" cy="4140920"/>
          </a:xfrm>
          <a:prstGeom prst="rect">
            <a:avLst/>
          </a:prstGeom>
        </p:spPr>
      </p:pic>
      <p:pic>
        <p:nvPicPr>
          <p:cNvPr id="32" name="Рисунок 31" descr="Изображение выглядит как текст, снимок экрана, линия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9CD0616-F11F-4871-1344-47669A9AB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05771"/>
            <a:ext cx="5521226" cy="414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65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0D927-A7EA-F489-2B06-9A6AC6A3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84DD05-A751-48A0-A7FB-075C1D363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8154"/>
            <a:ext cx="10515600" cy="84424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Primer selection</a:t>
            </a:r>
            <a:r>
              <a:rPr lang="ru-RU" sz="2800" b="1" dirty="0"/>
              <a:t> </a:t>
            </a:r>
            <a:r>
              <a:rPr lang="en-US" sz="2800" b="1" dirty="0"/>
              <a:t>and </a:t>
            </a:r>
            <a:r>
              <a:rPr lang="en-US" sz="2800" b="1" i="1" dirty="0"/>
              <a:t>in silico </a:t>
            </a:r>
            <a:r>
              <a:rPr lang="en-US" sz="2800" b="1" dirty="0"/>
              <a:t>PCR</a:t>
            </a:r>
            <a:endParaRPr lang="ru-RU" sz="2800" b="1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649A7B0D-2685-CB70-EDCF-B83F75C388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047087"/>
              </p:ext>
            </p:extLst>
          </p:nvPr>
        </p:nvGraphicFramePr>
        <p:xfrm>
          <a:off x="442451" y="1609892"/>
          <a:ext cx="10333704" cy="4383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9702">
                  <a:extLst>
                    <a:ext uri="{9D8B030D-6E8A-4147-A177-3AD203B41FA5}">
                      <a16:colId xmlns:a16="http://schemas.microsoft.com/office/drawing/2014/main" val="8128089"/>
                    </a:ext>
                  </a:extLst>
                </a:gridCol>
                <a:gridCol w="2861187">
                  <a:extLst>
                    <a:ext uri="{9D8B030D-6E8A-4147-A177-3AD203B41FA5}">
                      <a16:colId xmlns:a16="http://schemas.microsoft.com/office/drawing/2014/main" val="3438347697"/>
                    </a:ext>
                  </a:extLst>
                </a:gridCol>
                <a:gridCol w="619432">
                  <a:extLst>
                    <a:ext uri="{9D8B030D-6E8A-4147-A177-3AD203B41FA5}">
                      <a16:colId xmlns:a16="http://schemas.microsoft.com/office/drawing/2014/main" val="99101135"/>
                    </a:ext>
                  </a:extLst>
                </a:gridCol>
                <a:gridCol w="855407">
                  <a:extLst>
                    <a:ext uri="{9D8B030D-6E8A-4147-A177-3AD203B41FA5}">
                      <a16:colId xmlns:a16="http://schemas.microsoft.com/office/drawing/2014/main" val="1911961021"/>
                    </a:ext>
                  </a:extLst>
                </a:gridCol>
                <a:gridCol w="786580">
                  <a:extLst>
                    <a:ext uri="{9D8B030D-6E8A-4147-A177-3AD203B41FA5}">
                      <a16:colId xmlns:a16="http://schemas.microsoft.com/office/drawing/2014/main" val="3601896967"/>
                    </a:ext>
                  </a:extLst>
                </a:gridCol>
                <a:gridCol w="2838569">
                  <a:extLst>
                    <a:ext uri="{9D8B030D-6E8A-4147-A177-3AD203B41FA5}">
                      <a16:colId xmlns:a16="http://schemas.microsoft.com/office/drawing/2014/main" val="1435690338"/>
                    </a:ext>
                  </a:extLst>
                </a:gridCol>
                <a:gridCol w="668594">
                  <a:extLst>
                    <a:ext uri="{9D8B030D-6E8A-4147-A177-3AD203B41FA5}">
                      <a16:colId xmlns:a16="http://schemas.microsoft.com/office/drawing/2014/main" val="3296722947"/>
                    </a:ext>
                  </a:extLst>
                </a:gridCol>
                <a:gridCol w="924233">
                  <a:extLst>
                    <a:ext uri="{9D8B030D-6E8A-4147-A177-3AD203B41FA5}">
                      <a16:colId xmlns:a16="http://schemas.microsoft.com/office/drawing/2014/main" val="3529875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Name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Sequence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</a:t>
                      </a:r>
                      <a:r>
                        <a:rPr lang="en-US" sz="1200" kern="100" dirty="0">
                          <a:effectLst/>
                        </a:rPr>
                        <a:t>m</a:t>
                      </a:r>
                      <a:r>
                        <a:rPr lang="en-US" sz="1400" kern="100" dirty="0">
                          <a:effectLst/>
                        </a:rPr>
                        <a:t>, °C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Warnings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Name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Sequence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t</a:t>
                      </a:r>
                      <a:r>
                        <a:rPr lang="en-US" sz="1200" kern="100" dirty="0">
                          <a:effectLst/>
                        </a:rPr>
                        <a:t>m</a:t>
                      </a:r>
                      <a:r>
                        <a:rPr lang="en-US" sz="1400" kern="100" dirty="0">
                          <a:effectLst/>
                        </a:rPr>
                        <a:t>, °C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Warnings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1181693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Ls32_1F</a:t>
                      </a: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RCTTGTGTWTTGCAACCTAAAGTTAT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62.3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Ls32_1R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66.1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7037233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Ls32_2F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66.1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b="1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Ls32_2R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TGTAGTAATGTCCRGYGATATTACT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59.</a:t>
                      </a:r>
                      <a:r>
                        <a:rPr lang="en-US" sz="1400" kern="100" dirty="0">
                          <a:effectLst/>
                        </a:rPr>
                        <a:t>8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 defTabSz="36000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15528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Ls32_3F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66.1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Ls32_3R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ATGTAGTAATGTCCRGYGATATTACT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60.0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61811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Ls32_4F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66.1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Ls32_4R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GYAACTACCCYCGTTGTTGTG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64.0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597440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Ls32_5F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AKAAAAAMGCGTGCGAGGAG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66.1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Ls32_5R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GTAGTAATGTCCRGYGATATTACTC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59.0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280870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Ls34_1F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RGGCAAAAACAACTGYTTAAATGGTC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Ls34_1R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CCYATCAACCATARCTAAGCCTT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63.0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05948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Ls34_2F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RGGCAAAAACAACTGYTTAAATGGTC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Ls34_2R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TGTWACTACCCYCGTTGTTGT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61.2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415456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Ls34_3F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RGGCAAAAACAACTGYTTAAATGGTC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Ls34_3R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GRAAAACCTAATKATCATACCCAAGT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62.7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2419576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Ls34_4F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>
                          <a:effectLst/>
                        </a:rPr>
                        <a:t>RGGCAAAAACAACTGYTTAAATGGTC</a:t>
                      </a:r>
                      <a:endParaRPr lang="ru-RU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Ls34_4R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CCCATYAACCATARCTAAGCCT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62.8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NO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3958448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Ls34_5F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RGGCAAAAACAACTGYTTAAATGGTC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67.8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NO</a:t>
                      </a:r>
                      <a:endParaRPr lang="ru-RU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</a:rPr>
                        <a:t>Ls34_5R</a:t>
                      </a:r>
                      <a:endParaRPr lang="ru-RU" sz="1400" b="1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ATGTAGTAATGTCCRGYGATATTACT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kern="100" dirty="0">
                          <a:effectLst/>
                        </a:rPr>
                        <a:t>60.0	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YES</a:t>
                      </a:r>
                      <a:endParaRPr lang="ru-RU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300" marR="41300" marT="0" marB="0"/>
                </a:tc>
                <a:extLst>
                  <a:ext uri="{0D108BD9-81ED-4DB2-BD59-A6C34878D82A}">
                    <a16:rowId xmlns:a16="http://schemas.microsoft.com/office/drawing/2014/main" val="28440561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F300FEC-7058-0550-52A8-D2441B61DD82}"/>
              </a:ext>
            </a:extLst>
          </p:cNvPr>
          <p:cNvSpPr txBox="1"/>
          <p:nvPr/>
        </p:nvSpPr>
        <p:spPr>
          <a:xfrm>
            <a:off x="442451" y="442058"/>
            <a:ext cx="115922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u="sng" dirty="0"/>
              <a:t>Primer design:</a:t>
            </a:r>
            <a:r>
              <a:rPr lang="en-US" dirty="0"/>
              <a:t> </a:t>
            </a:r>
            <a:r>
              <a:rPr lang="en-US" b="1" dirty="0"/>
              <a:t>DECIPHER</a:t>
            </a:r>
            <a:r>
              <a:rPr lang="en-US" dirty="0"/>
              <a:t> (</a:t>
            </a:r>
            <a:r>
              <a:rPr lang="pt-BR" dirty="0"/>
              <a:t>Wright et al. (2014)</a:t>
            </a:r>
            <a:r>
              <a:rPr lang="pt-BR" i="1" dirty="0"/>
              <a:t> Environ. Microbiol. </a:t>
            </a:r>
            <a:r>
              <a:rPr lang="pt-BR" dirty="0"/>
              <a:t>16(5) 1354-1365) + </a:t>
            </a:r>
            <a:r>
              <a:rPr lang="pt-BR" b="1" dirty="0"/>
              <a:t>Oligoarray</a:t>
            </a:r>
            <a:r>
              <a:rPr lang="pt-BR" dirty="0"/>
              <a:t> (Rouillard et al (2003) </a:t>
            </a:r>
            <a:r>
              <a:rPr lang="pt-BR" i="1" dirty="0"/>
              <a:t>NAR</a:t>
            </a:r>
            <a:r>
              <a:rPr lang="pt-BR" dirty="0"/>
              <a:t>, 31(12), 3057-3062), function </a:t>
            </a:r>
            <a:r>
              <a:rPr lang="pt-BR" b="1" dirty="0"/>
              <a:t>DesignPrimers()</a:t>
            </a:r>
            <a:r>
              <a:rPr lang="pt-BR" dirty="0"/>
              <a:t>. Parameters: 50 mM NaCl, 0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.5 µM primer.</a:t>
            </a:r>
          </a:p>
          <a:p>
            <a:r>
              <a:rPr lang="en-US" i="1" u="sng" dirty="0"/>
              <a:t>In silico </a:t>
            </a:r>
            <a:r>
              <a:rPr lang="en-US" u="sng" dirty="0"/>
              <a:t>PCR:</a:t>
            </a:r>
            <a:r>
              <a:rPr lang="en-US" dirty="0"/>
              <a:t> </a:t>
            </a:r>
            <a:r>
              <a:rPr lang="en-US" b="1" dirty="0"/>
              <a:t>primer-BLAST</a:t>
            </a:r>
            <a:r>
              <a:rPr lang="en-US" dirty="0"/>
              <a:t> (Ye et al. (2012) </a:t>
            </a:r>
            <a:r>
              <a:rPr lang="en-US" i="1" dirty="0"/>
              <a:t>BMC Bioinformatics</a:t>
            </a:r>
            <a:r>
              <a:rPr lang="en-US" dirty="0"/>
              <a:t>, 13, 1-11). </a:t>
            </a:r>
            <a:r>
              <a:rPr lang="pt-BR" dirty="0"/>
              <a:t>Parameters: 50 mM NaCl, 1.5 mM MgCl</a:t>
            </a:r>
            <a:r>
              <a:rPr lang="pt-BR" sz="1400" dirty="0"/>
              <a:t>2</a:t>
            </a:r>
            <a:r>
              <a:rPr lang="pt-BR" dirty="0"/>
              <a:t>, 0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.5 µM primers. Sequence source: NCBI GenBank.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DAB61-9183-86F4-322A-B0AC5AE706E0}"/>
              </a:ext>
            </a:extLst>
          </p:cNvPr>
          <p:cNvSpPr txBox="1"/>
          <p:nvPr/>
        </p:nvSpPr>
        <p:spPr>
          <a:xfrm>
            <a:off x="0" y="5963816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 PCR products are </a:t>
            </a:r>
            <a:r>
              <a:rPr lang="en-US" sz="1800" b="1" i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L. </a:t>
            </a:r>
            <a:r>
              <a:rPr lang="en-US" sz="1800" b="1" i="1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salmonis</a:t>
            </a:r>
            <a:r>
              <a:rPr lang="en-US" sz="1800" b="1" i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sequences (</a:t>
            </a:r>
            <a:r>
              <a:rPr lang="en-US" sz="1800" b="1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Uvic_Ls</a:t>
            </a:r>
            <a:r>
              <a:rPr lang="en-US" sz="1800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IoA-00).</a:t>
            </a:r>
          </a:p>
          <a:p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Note: </a:t>
            </a:r>
            <a:r>
              <a:rPr lang="en-US" b="1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Ls32 – ~500 bp, 2500 bp. 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Ls32_5 – additional strange proteins of </a:t>
            </a:r>
            <a:r>
              <a:rPr lang="en-US" b="1" i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L. </a:t>
            </a:r>
            <a:r>
              <a:rPr lang="en-US" b="1" i="1" dirty="0" err="1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salmonis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b="1" kern="100" dirty="0">
                <a:solidFill>
                  <a:srgbClr val="C00000"/>
                </a:solidFill>
                <a:effectLst/>
              </a:rPr>
              <a:t>Ls34 – very many 180 bp </a:t>
            </a:r>
            <a:r>
              <a:rPr lang="en-US" sz="1800" b="1" kern="100" dirty="0" err="1">
                <a:solidFill>
                  <a:srgbClr val="C00000"/>
                </a:solidFill>
                <a:effectLst/>
              </a:rPr>
              <a:t>seqences</a:t>
            </a:r>
            <a:r>
              <a:rPr lang="en-US" sz="1800" b="1" kern="100" dirty="0">
                <a:solidFill>
                  <a:srgbClr val="C00000"/>
                </a:solidFill>
                <a:effectLst/>
              </a:rPr>
              <a:t>.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800" b="1" dirty="0">
              <a:solidFill>
                <a:srgbClr val="C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results with other </a:t>
            </a:r>
            <a:r>
              <a:rPr lang="en-US" b="1" i="1" dirty="0" err="1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Lepiophtherus</a:t>
            </a:r>
            <a:r>
              <a:rPr lang="en-US" b="1" i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spp. </a:t>
            </a:r>
            <a:r>
              <a:rPr lang="en-US" sz="1800" b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results Crustacea.</a:t>
            </a:r>
          </a:p>
        </p:txBody>
      </p:sp>
    </p:spTree>
    <p:extLst>
      <p:ext uri="{BB962C8B-B14F-4D97-AF65-F5344CB8AC3E}">
        <p14:creationId xmlns:p14="http://schemas.microsoft.com/office/powerpoint/2010/main" val="31511965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2268</TotalTime>
  <Words>1192</Words>
  <Application>Microsoft Office PowerPoint</Application>
  <PresentationFormat>Широкоэкранный</PresentationFormat>
  <Paragraphs>357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g_d0_f5</vt:lpstr>
      <vt:lpstr>Тема Office</vt:lpstr>
      <vt:lpstr>Презентация PowerPoint</vt:lpstr>
      <vt:lpstr>Published Lepeophtheirus salmonis genome assemblies (from the NCBI GenBank) </vt:lpstr>
      <vt:lpstr>Repetitive elements for identification of Lepeophtheirus salmonis</vt:lpstr>
      <vt:lpstr>Repeat statistics for the  Lepeophtheirus salmonis genome</vt:lpstr>
      <vt:lpstr>Filtering: how to select ‘good’ repeats for the identification task</vt:lpstr>
      <vt:lpstr>Filtering: how to select ‘good’ repeats for the identification task</vt:lpstr>
      <vt:lpstr>Clusterisation of filtered repeats of Lepeophtheirus salmonis</vt:lpstr>
      <vt:lpstr>Clusterisation of filtered repeats of Lepeophtheirus salmonis for primer design</vt:lpstr>
      <vt:lpstr>Primer selection and in silico PCR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 Chekanov</dc:creator>
  <cp:lastModifiedBy>Konstantin Chekanov</cp:lastModifiedBy>
  <cp:revision>21</cp:revision>
  <dcterms:created xsi:type="dcterms:W3CDTF">2025-05-12T00:17:36Z</dcterms:created>
  <dcterms:modified xsi:type="dcterms:W3CDTF">2025-05-13T20:35:03Z</dcterms:modified>
</cp:coreProperties>
</file>