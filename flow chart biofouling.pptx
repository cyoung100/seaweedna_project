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 userDrawn="1">
          <p15:clr>
            <a:srgbClr val="A4A3A4"/>
          </p15:clr>
        </p15:guide>
        <p15:guide id="2" pos="2381" userDrawn="1">
          <p15:clr>
            <a:srgbClr val="A4A3A4"/>
          </p15:clr>
        </p15:guide>
        <p15:guide id="3" orient="horz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EFBD5-D4BE-4BBF-B514-6E3CE3DC8C3A}" v="41" dt="2025-02-07T13:35:57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1158" y="-120"/>
      </p:cViewPr>
      <p:guideLst>
        <p:guide orient="horz" pos="3367"/>
        <p:guide pos="2381"/>
        <p:guide orient="horz"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95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51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34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56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77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68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28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2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148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22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776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3B937-7F12-40B8-8D98-41F0C682986A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54AE5-72FA-4614-A275-FD1A0F952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4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44">
            <a:extLst>
              <a:ext uri="{FF2B5EF4-FFF2-40B4-BE49-F238E27FC236}">
                <a16:creationId xmlns:a16="http://schemas.microsoft.com/office/drawing/2014/main" id="{4D0D8B9D-1282-E355-08CF-B29FA42F84FE}"/>
              </a:ext>
            </a:extLst>
          </p:cNvPr>
          <p:cNvSpPr/>
          <p:nvPr/>
        </p:nvSpPr>
        <p:spPr>
          <a:xfrm>
            <a:off x="60796" y="1190683"/>
            <a:ext cx="1673972" cy="817932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5FF1B52B-7BB9-90FF-3FFF-A0E882DFC007}"/>
              </a:ext>
            </a:extLst>
          </p:cNvPr>
          <p:cNvSpPr>
            <a:spLocks/>
          </p:cNvSpPr>
          <p:nvPr/>
        </p:nvSpPr>
        <p:spPr>
          <a:xfrm>
            <a:off x="191188" y="1321801"/>
            <a:ext cx="1368342" cy="730690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Epibiont removed from seaweed blade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A0D50A5-8CEC-3BE4-F6EC-54265D6F8C99}"/>
              </a:ext>
            </a:extLst>
          </p:cNvPr>
          <p:cNvSpPr/>
          <p:nvPr/>
        </p:nvSpPr>
        <p:spPr>
          <a:xfrm>
            <a:off x="648295" y="2098048"/>
            <a:ext cx="492227" cy="515417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9B4212C4-5827-1B09-67F9-8CD3A7D8964B}"/>
              </a:ext>
            </a:extLst>
          </p:cNvPr>
          <p:cNvSpPr/>
          <p:nvPr/>
        </p:nvSpPr>
        <p:spPr>
          <a:xfrm>
            <a:off x="192850" y="2618883"/>
            <a:ext cx="1368342" cy="730690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DNA extracted from epibiont</a:t>
            </a:r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B5258A34-2EF4-E913-C67B-8122BAF04DDB}"/>
              </a:ext>
            </a:extLst>
          </p:cNvPr>
          <p:cNvSpPr/>
          <p:nvPr/>
        </p:nvSpPr>
        <p:spPr>
          <a:xfrm>
            <a:off x="192850" y="3938434"/>
            <a:ext cx="1368342" cy="730690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PCR amplification (COI) to isolate epibiont DNA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EEB2A5B8-B25B-5D80-58FB-8991F75D4D36}"/>
              </a:ext>
            </a:extLst>
          </p:cNvPr>
          <p:cNvSpPr/>
          <p:nvPr/>
        </p:nvSpPr>
        <p:spPr>
          <a:xfrm>
            <a:off x="185601" y="5254404"/>
            <a:ext cx="1423215" cy="984122"/>
          </a:xfrm>
          <a:custGeom>
            <a:avLst/>
            <a:gdLst>
              <a:gd name="connsiteX0" fmla="*/ 0 w 1915446"/>
              <a:gd name="connsiteY0" fmla="*/ 102994 h 1029943"/>
              <a:gd name="connsiteX1" fmla="*/ 102994 w 1915446"/>
              <a:gd name="connsiteY1" fmla="*/ 0 h 1029943"/>
              <a:gd name="connsiteX2" fmla="*/ 1812452 w 1915446"/>
              <a:gd name="connsiteY2" fmla="*/ 0 h 1029943"/>
              <a:gd name="connsiteX3" fmla="*/ 1915446 w 1915446"/>
              <a:gd name="connsiteY3" fmla="*/ 102994 h 1029943"/>
              <a:gd name="connsiteX4" fmla="*/ 1915446 w 1915446"/>
              <a:gd name="connsiteY4" fmla="*/ 926949 h 1029943"/>
              <a:gd name="connsiteX5" fmla="*/ 1812452 w 1915446"/>
              <a:gd name="connsiteY5" fmla="*/ 1029943 h 1029943"/>
              <a:gd name="connsiteX6" fmla="*/ 102994 w 1915446"/>
              <a:gd name="connsiteY6" fmla="*/ 1029943 h 1029943"/>
              <a:gd name="connsiteX7" fmla="*/ 0 w 1915446"/>
              <a:gd name="connsiteY7" fmla="*/ 926949 h 1029943"/>
              <a:gd name="connsiteX8" fmla="*/ 0 w 1915446"/>
              <a:gd name="connsiteY8" fmla="*/ 102994 h 10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5446" h="1029943">
                <a:moveTo>
                  <a:pt x="0" y="102994"/>
                </a:moveTo>
                <a:cubicBezTo>
                  <a:pt x="0" y="46112"/>
                  <a:pt x="46112" y="0"/>
                  <a:pt x="102994" y="0"/>
                </a:cubicBezTo>
                <a:lnTo>
                  <a:pt x="1812452" y="0"/>
                </a:lnTo>
                <a:cubicBezTo>
                  <a:pt x="1869334" y="0"/>
                  <a:pt x="1915446" y="46112"/>
                  <a:pt x="1915446" y="102994"/>
                </a:cubicBezTo>
                <a:lnTo>
                  <a:pt x="1915446" y="926949"/>
                </a:lnTo>
                <a:cubicBezTo>
                  <a:pt x="1915446" y="983831"/>
                  <a:pt x="1869334" y="1029943"/>
                  <a:pt x="1812452" y="1029943"/>
                </a:cubicBezTo>
                <a:lnTo>
                  <a:pt x="102994" y="1029943"/>
                </a:lnTo>
                <a:cubicBezTo>
                  <a:pt x="46112" y="1029943"/>
                  <a:pt x="0" y="983831"/>
                  <a:pt x="0" y="926949"/>
                </a:cubicBezTo>
                <a:lnTo>
                  <a:pt x="0" y="102994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83506" tIns="83506" rIns="83506" bIns="835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Sanger Sequencing: COI region base order for each species genome</a:t>
            </a:r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45276C96-9F97-E5AB-F5E1-A401B6264A80}"/>
              </a:ext>
            </a:extLst>
          </p:cNvPr>
          <p:cNvSpPr/>
          <p:nvPr/>
        </p:nvSpPr>
        <p:spPr>
          <a:xfrm>
            <a:off x="185796" y="6802643"/>
            <a:ext cx="1368342" cy="730690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Identify regions with high copy number for each species </a:t>
            </a:r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B8C52DAE-C2CD-0D5A-0273-86E437706252}"/>
              </a:ext>
            </a:extLst>
          </p:cNvPr>
          <p:cNvSpPr/>
          <p:nvPr/>
        </p:nvSpPr>
        <p:spPr>
          <a:xfrm>
            <a:off x="181661" y="8119692"/>
            <a:ext cx="1368341" cy="730690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Design primers which amplify identified regions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DC72158-842A-5C05-8FB6-96E39A8B63BB}"/>
              </a:ext>
            </a:extLst>
          </p:cNvPr>
          <p:cNvSpPr/>
          <p:nvPr/>
        </p:nvSpPr>
        <p:spPr>
          <a:xfrm>
            <a:off x="664727" y="3387235"/>
            <a:ext cx="492228" cy="515417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2338F68B-E995-9BA0-59DC-8249C7DFDDF0}"/>
              </a:ext>
            </a:extLst>
          </p:cNvPr>
          <p:cNvSpPr/>
          <p:nvPr/>
        </p:nvSpPr>
        <p:spPr>
          <a:xfrm>
            <a:off x="645677" y="4699202"/>
            <a:ext cx="492228" cy="515417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27AA6E1-840F-3CFF-E77A-A678C81D6A70}"/>
              </a:ext>
            </a:extLst>
          </p:cNvPr>
          <p:cNvSpPr/>
          <p:nvPr/>
        </p:nvSpPr>
        <p:spPr>
          <a:xfrm>
            <a:off x="640711" y="6275290"/>
            <a:ext cx="492228" cy="515417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9C531CFE-CA04-5449-BDC4-E3CF451DB8C0}"/>
              </a:ext>
            </a:extLst>
          </p:cNvPr>
          <p:cNvSpPr/>
          <p:nvPr/>
        </p:nvSpPr>
        <p:spPr>
          <a:xfrm>
            <a:off x="655481" y="7566372"/>
            <a:ext cx="492228" cy="515417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 dirty="0"/>
          </a:p>
        </p:txBody>
      </p:sp>
      <p:sp>
        <p:nvSpPr>
          <p:cNvPr id="57" name="Free-form: Shape 56">
            <a:extLst>
              <a:ext uri="{FF2B5EF4-FFF2-40B4-BE49-F238E27FC236}">
                <a16:creationId xmlns:a16="http://schemas.microsoft.com/office/drawing/2014/main" id="{71581FFD-3BFC-DA29-E6EE-01A90ACD1910}"/>
              </a:ext>
            </a:extLst>
          </p:cNvPr>
          <p:cNvSpPr>
            <a:spLocks/>
          </p:cNvSpPr>
          <p:nvPr/>
        </p:nvSpPr>
        <p:spPr>
          <a:xfrm>
            <a:off x="2148560" y="1192344"/>
            <a:ext cx="1368345" cy="730690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eDNA filtered from farm seawater</a:t>
            </a: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35C044B5-D759-180D-BBCC-3F48A6FB89D6}"/>
              </a:ext>
            </a:extLst>
          </p:cNvPr>
          <p:cNvSpPr/>
          <p:nvPr/>
        </p:nvSpPr>
        <p:spPr>
          <a:xfrm>
            <a:off x="2587796" y="2080883"/>
            <a:ext cx="492228" cy="515416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/>
          </a:p>
        </p:txBody>
      </p:sp>
      <p:sp>
        <p:nvSpPr>
          <p:cNvPr id="59" name="Free-form: Shape 58">
            <a:extLst>
              <a:ext uri="{FF2B5EF4-FFF2-40B4-BE49-F238E27FC236}">
                <a16:creationId xmlns:a16="http://schemas.microsoft.com/office/drawing/2014/main" id="{0ACE5610-1EE3-FB15-810D-8F988B330147}"/>
              </a:ext>
            </a:extLst>
          </p:cNvPr>
          <p:cNvSpPr/>
          <p:nvPr/>
        </p:nvSpPr>
        <p:spPr>
          <a:xfrm>
            <a:off x="2170451" y="2621221"/>
            <a:ext cx="1368345" cy="730690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DNA extracted</a:t>
            </a:r>
          </a:p>
        </p:txBody>
      </p:sp>
      <p:sp>
        <p:nvSpPr>
          <p:cNvPr id="60" name="Free-form: Shape 59">
            <a:extLst>
              <a:ext uri="{FF2B5EF4-FFF2-40B4-BE49-F238E27FC236}">
                <a16:creationId xmlns:a16="http://schemas.microsoft.com/office/drawing/2014/main" id="{96E8D092-DE44-2273-76CE-229DBB6A17B4}"/>
              </a:ext>
            </a:extLst>
          </p:cNvPr>
          <p:cNvSpPr/>
          <p:nvPr/>
        </p:nvSpPr>
        <p:spPr>
          <a:xfrm>
            <a:off x="2184113" y="3990761"/>
            <a:ext cx="1410844" cy="947467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DNA amplified and quantified: </a:t>
            </a:r>
            <a:r>
              <a:rPr lang="en-GB" sz="1200" kern="1200" dirty="0" err="1"/>
              <a:t>ddPCR</a:t>
            </a:r>
            <a:r>
              <a:rPr lang="en-GB" sz="1200" kern="1200" dirty="0"/>
              <a:t> / qPCR </a:t>
            </a:r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0804458F-70AB-5E13-2A47-4984913C8495}"/>
              </a:ext>
            </a:extLst>
          </p:cNvPr>
          <p:cNvSpPr/>
          <p:nvPr/>
        </p:nvSpPr>
        <p:spPr>
          <a:xfrm>
            <a:off x="2622343" y="3423017"/>
            <a:ext cx="492228" cy="515417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 dirty="0"/>
          </a:p>
        </p:txBody>
      </p:sp>
      <p:sp>
        <p:nvSpPr>
          <p:cNvPr id="95" name="Free-form: Shape 94">
            <a:extLst>
              <a:ext uri="{FF2B5EF4-FFF2-40B4-BE49-F238E27FC236}">
                <a16:creationId xmlns:a16="http://schemas.microsoft.com/office/drawing/2014/main" id="{1BA23AD6-7782-D940-6E67-4DEB37F8F238}"/>
              </a:ext>
            </a:extLst>
          </p:cNvPr>
          <p:cNvSpPr>
            <a:spLocks/>
          </p:cNvSpPr>
          <p:nvPr/>
        </p:nvSpPr>
        <p:spPr>
          <a:xfrm>
            <a:off x="5617787" y="1187150"/>
            <a:ext cx="1413625" cy="1196098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Salinity, temperature, PAR, nutrients, chlorophyll data recorded</a:t>
            </a:r>
          </a:p>
        </p:txBody>
      </p:sp>
      <p:sp>
        <p:nvSpPr>
          <p:cNvPr id="101" name="Free-form: Shape 100">
            <a:extLst>
              <a:ext uri="{FF2B5EF4-FFF2-40B4-BE49-F238E27FC236}">
                <a16:creationId xmlns:a16="http://schemas.microsoft.com/office/drawing/2014/main" id="{9F71E67B-3529-7B9F-F603-B047168C6B46}"/>
              </a:ext>
            </a:extLst>
          </p:cNvPr>
          <p:cNvSpPr>
            <a:spLocks/>
          </p:cNvSpPr>
          <p:nvPr/>
        </p:nvSpPr>
        <p:spPr>
          <a:xfrm>
            <a:off x="3956992" y="1190683"/>
            <a:ext cx="1368345" cy="984119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dirty="0"/>
              <a:t>Zooplankton, phytoplankton, blades with epibionts sampled</a:t>
            </a:r>
            <a:endParaRPr lang="en-GB" sz="1200" kern="1200" dirty="0"/>
          </a:p>
        </p:txBody>
      </p: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E982526F-2FB4-F42D-5C82-0A345CBB7C52}"/>
              </a:ext>
            </a:extLst>
          </p:cNvPr>
          <p:cNvSpPr/>
          <p:nvPr/>
        </p:nvSpPr>
        <p:spPr>
          <a:xfrm>
            <a:off x="4409966" y="2345314"/>
            <a:ext cx="492228" cy="515416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/>
          </a:p>
        </p:txBody>
      </p:sp>
      <p:sp>
        <p:nvSpPr>
          <p:cNvPr id="103" name="Free-form: Shape 102">
            <a:extLst>
              <a:ext uri="{FF2B5EF4-FFF2-40B4-BE49-F238E27FC236}">
                <a16:creationId xmlns:a16="http://schemas.microsoft.com/office/drawing/2014/main" id="{7B43906B-A761-BB9D-B9F7-7D1C0049A152}"/>
              </a:ext>
            </a:extLst>
          </p:cNvPr>
          <p:cNvSpPr/>
          <p:nvPr/>
        </p:nvSpPr>
        <p:spPr>
          <a:xfrm>
            <a:off x="4002146" y="2892904"/>
            <a:ext cx="1368345" cy="730689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Microscopic visual survey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E3413E3-BEAC-CA4D-E25D-24625F72DB0F}"/>
              </a:ext>
            </a:extLst>
          </p:cNvPr>
          <p:cNvCxnSpPr>
            <a:cxnSpLocks/>
          </p:cNvCxnSpPr>
          <p:nvPr/>
        </p:nvCxnSpPr>
        <p:spPr>
          <a:xfrm>
            <a:off x="2824385" y="4990556"/>
            <a:ext cx="1345869" cy="108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EBF20B5-F9B1-2716-BFBB-F277E32170F5}"/>
              </a:ext>
            </a:extLst>
          </p:cNvPr>
          <p:cNvCxnSpPr>
            <a:cxnSpLocks/>
          </p:cNvCxnSpPr>
          <p:nvPr/>
        </p:nvCxnSpPr>
        <p:spPr>
          <a:xfrm flipH="1">
            <a:off x="4641165" y="3690654"/>
            <a:ext cx="16662" cy="2381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3" name="Free-form: Shape 112">
            <a:extLst>
              <a:ext uri="{FF2B5EF4-FFF2-40B4-BE49-F238E27FC236}">
                <a16:creationId xmlns:a16="http://schemas.microsoft.com/office/drawing/2014/main" id="{4C09FEBC-8122-F20B-2C6C-D7CA29E5BD2E}"/>
              </a:ext>
            </a:extLst>
          </p:cNvPr>
          <p:cNvSpPr/>
          <p:nvPr/>
        </p:nvSpPr>
        <p:spPr>
          <a:xfrm>
            <a:off x="3836733" y="6153897"/>
            <a:ext cx="1701739" cy="730689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Predictive Casual model</a:t>
            </a:r>
          </a:p>
        </p:txBody>
      </p:sp>
      <p:sp>
        <p:nvSpPr>
          <p:cNvPr id="114" name="Free-form: Shape 113">
            <a:extLst>
              <a:ext uri="{FF2B5EF4-FFF2-40B4-BE49-F238E27FC236}">
                <a16:creationId xmlns:a16="http://schemas.microsoft.com/office/drawing/2014/main" id="{5DE50CD3-54FE-2D84-F882-955B08143FC3}"/>
              </a:ext>
            </a:extLst>
          </p:cNvPr>
          <p:cNvSpPr/>
          <p:nvPr/>
        </p:nvSpPr>
        <p:spPr>
          <a:xfrm>
            <a:off x="3840356" y="7473332"/>
            <a:ext cx="1701739" cy="730689"/>
          </a:xfrm>
          <a:custGeom>
            <a:avLst/>
            <a:gdLst>
              <a:gd name="connsiteX0" fmla="*/ 0 w 1773226"/>
              <a:gd name="connsiteY0" fmla="*/ 73025 h 730253"/>
              <a:gd name="connsiteX1" fmla="*/ 73025 w 1773226"/>
              <a:gd name="connsiteY1" fmla="*/ 0 h 730253"/>
              <a:gd name="connsiteX2" fmla="*/ 1700201 w 1773226"/>
              <a:gd name="connsiteY2" fmla="*/ 0 h 730253"/>
              <a:gd name="connsiteX3" fmla="*/ 1773226 w 1773226"/>
              <a:gd name="connsiteY3" fmla="*/ 73025 h 730253"/>
              <a:gd name="connsiteX4" fmla="*/ 1773226 w 1773226"/>
              <a:gd name="connsiteY4" fmla="*/ 657228 h 730253"/>
              <a:gd name="connsiteX5" fmla="*/ 1700201 w 1773226"/>
              <a:gd name="connsiteY5" fmla="*/ 730253 h 730253"/>
              <a:gd name="connsiteX6" fmla="*/ 73025 w 1773226"/>
              <a:gd name="connsiteY6" fmla="*/ 730253 h 730253"/>
              <a:gd name="connsiteX7" fmla="*/ 0 w 1773226"/>
              <a:gd name="connsiteY7" fmla="*/ 657228 h 730253"/>
              <a:gd name="connsiteX8" fmla="*/ 0 w 1773226"/>
              <a:gd name="connsiteY8" fmla="*/ 73025 h 7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226" h="730253">
                <a:moveTo>
                  <a:pt x="0" y="73025"/>
                </a:moveTo>
                <a:cubicBezTo>
                  <a:pt x="0" y="32694"/>
                  <a:pt x="32694" y="0"/>
                  <a:pt x="73025" y="0"/>
                </a:cubicBezTo>
                <a:lnTo>
                  <a:pt x="1700201" y="0"/>
                </a:lnTo>
                <a:cubicBezTo>
                  <a:pt x="1740532" y="0"/>
                  <a:pt x="1773226" y="32694"/>
                  <a:pt x="1773226" y="73025"/>
                </a:cubicBezTo>
                <a:lnTo>
                  <a:pt x="1773226" y="657228"/>
                </a:lnTo>
                <a:cubicBezTo>
                  <a:pt x="1773226" y="697559"/>
                  <a:pt x="1740532" y="730253"/>
                  <a:pt x="1700201" y="730253"/>
                </a:cubicBezTo>
                <a:lnTo>
                  <a:pt x="73025" y="730253"/>
                </a:lnTo>
                <a:cubicBezTo>
                  <a:pt x="32694" y="730253"/>
                  <a:pt x="0" y="697559"/>
                  <a:pt x="0" y="657228"/>
                </a:cubicBezTo>
                <a:lnTo>
                  <a:pt x="0" y="73025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728" tIns="74728" rIns="74728" bIns="747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Determine biofouling risk based on parametrised sensor data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A6E6FDC-F9B3-1BB7-539C-2C4F6AB0CC02}"/>
              </a:ext>
            </a:extLst>
          </p:cNvPr>
          <p:cNvSpPr/>
          <p:nvPr/>
        </p:nvSpPr>
        <p:spPr>
          <a:xfrm>
            <a:off x="2549217" y="8396672"/>
            <a:ext cx="1410845" cy="13444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Extend growing season to maximum potential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C1446C8-4424-ADC9-371C-E685B082086D}"/>
              </a:ext>
            </a:extLst>
          </p:cNvPr>
          <p:cNvSpPr/>
          <p:nvPr/>
        </p:nvSpPr>
        <p:spPr>
          <a:xfrm>
            <a:off x="5479253" y="8396672"/>
            <a:ext cx="1410845" cy="13444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Increase farm yield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0EC673C0-773C-09AF-BA98-A332C6400310}"/>
              </a:ext>
            </a:extLst>
          </p:cNvPr>
          <p:cNvSpPr/>
          <p:nvPr/>
        </p:nvSpPr>
        <p:spPr>
          <a:xfrm>
            <a:off x="4014235" y="8396673"/>
            <a:ext cx="1410845" cy="13444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Reduce loss from biofouling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81D8E907-D225-9264-08EE-A8D92835F015}"/>
              </a:ext>
            </a:extLst>
          </p:cNvPr>
          <p:cNvCxnSpPr>
            <a:cxnSpLocks/>
          </p:cNvCxnSpPr>
          <p:nvPr/>
        </p:nvCxnSpPr>
        <p:spPr>
          <a:xfrm flipH="1">
            <a:off x="5254550" y="2464824"/>
            <a:ext cx="1070049" cy="3607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35" name="Arrow: Down 134">
            <a:extLst>
              <a:ext uri="{FF2B5EF4-FFF2-40B4-BE49-F238E27FC236}">
                <a16:creationId xmlns:a16="http://schemas.microsoft.com/office/drawing/2014/main" id="{CB1CD184-2D78-DE8D-890A-9EB9A2D4925A}"/>
              </a:ext>
            </a:extLst>
          </p:cNvPr>
          <p:cNvSpPr/>
          <p:nvPr/>
        </p:nvSpPr>
        <p:spPr>
          <a:xfrm>
            <a:off x="4440204" y="6932487"/>
            <a:ext cx="492228" cy="515417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44942" tIns="0" rIns="144942" bIns="176124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050" kern="1200"/>
          </a:p>
        </p:txBody>
      </p:sp>
    </p:spTree>
    <p:extLst>
      <p:ext uri="{BB962C8B-B14F-4D97-AF65-F5344CB8AC3E}">
        <p14:creationId xmlns:p14="http://schemas.microsoft.com/office/powerpoint/2010/main" val="4972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72C94AF6138F4F97F74BA987FA7B11" ma:contentTypeVersion="11" ma:contentTypeDescription="Create a new document." ma:contentTypeScope="" ma:versionID="5aaec19d524b244a64646851ef54ac5c">
  <xsd:schema xmlns:xsd="http://www.w3.org/2001/XMLSchema" xmlns:xs="http://www.w3.org/2001/XMLSchema" xmlns:p="http://schemas.microsoft.com/office/2006/metadata/properties" xmlns:ns3="89ba2e87-a6a1-49b1-b493-39944c63e165" targetNamespace="http://schemas.microsoft.com/office/2006/metadata/properties" ma:root="true" ma:fieldsID="6747e3551422a0770c60661a35ebc50c" ns3:_="">
    <xsd:import namespace="89ba2e87-a6a1-49b1-b493-39944c63e16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ba2e87-a6a1-49b1-b493-39944c63e16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ba2e87-a6a1-49b1-b493-39944c63e165" xsi:nil="true"/>
  </documentManagement>
</p:properties>
</file>

<file path=customXml/itemProps1.xml><?xml version="1.0" encoding="utf-8"?>
<ds:datastoreItem xmlns:ds="http://schemas.openxmlformats.org/officeDocument/2006/customXml" ds:itemID="{1639B55A-0E39-4C41-8313-04999E86BD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ba2e87-a6a1-49b1-b493-39944c63e1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9B08FC-606C-4510-A3DB-BFE281D0ED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7E4E25-3880-44C9-8F64-570FE88952A3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89ba2e87-a6a1-49b1-b493-39944c63e165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105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Calum Young (PGR)</dc:creator>
  <cp:lastModifiedBy>Calum Young (PGR)</cp:lastModifiedBy>
  <cp:revision>2</cp:revision>
  <dcterms:created xsi:type="dcterms:W3CDTF">2025-02-07T12:04:58Z</dcterms:created>
  <dcterms:modified xsi:type="dcterms:W3CDTF">2025-02-07T13:41:03Z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0x010100F572C94AF6138F4F97F74BA987FA7B11</vt:lpwstr>
  </property>
</Properties>
</file>