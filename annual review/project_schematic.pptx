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292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30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73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89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40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59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16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20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14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66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2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25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65608-5432-4602-8A88-CE3BAF44D50A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4AEFC-B4C7-4848-8B49-1DB4ED4E0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10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0468BF16-3370-6CC0-8415-143D0493669F}"/>
              </a:ext>
            </a:extLst>
          </p:cNvPr>
          <p:cNvSpPr/>
          <p:nvPr/>
        </p:nvSpPr>
        <p:spPr>
          <a:xfrm>
            <a:off x="3372349" y="5623375"/>
            <a:ext cx="3445826" cy="2288109"/>
          </a:xfrm>
          <a:prstGeom prst="roundRect">
            <a:avLst/>
          </a:prstGeom>
          <a:solidFill>
            <a:srgbClr val="CAEEFB">
              <a:alpha val="29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  <a:solidFill>
                <a:schemeClr val="tx1"/>
              </a:solidFill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51A60ED1-D529-750B-F74E-18CE92890AE1}"/>
              </a:ext>
            </a:extLst>
          </p:cNvPr>
          <p:cNvSpPr/>
          <p:nvPr/>
        </p:nvSpPr>
        <p:spPr>
          <a:xfrm>
            <a:off x="200343" y="5631240"/>
            <a:ext cx="2526581" cy="2288109"/>
          </a:xfrm>
          <a:prstGeom prst="roundRect">
            <a:avLst/>
          </a:prstGeom>
          <a:solidFill>
            <a:srgbClr val="CAEEFB">
              <a:alpha val="29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  <a:solidFill>
                <a:schemeClr val="tx1"/>
              </a:solidFill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57C772A9-F606-1BDF-C3EA-03B005DB2AEE}"/>
              </a:ext>
            </a:extLst>
          </p:cNvPr>
          <p:cNvSpPr/>
          <p:nvPr/>
        </p:nvSpPr>
        <p:spPr>
          <a:xfrm>
            <a:off x="795130" y="3866718"/>
            <a:ext cx="4785192" cy="1005884"/>
          </a:xfrm>
          <a:prstGeom prst="roundRect">
            <a:avLst/>
          </a:prstGeom>
          <a:solidFill>
            <a:srgbClr val="F2CFEE">
              <a:alpha val="47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319">
              <a:ln>
                <a:solidFill>
                  <a:schemeClr val="tx1"/>
                </a:solidFill>
                <a:prstDash val="dashDot"/>
              </a:ln>
              <a:solidFill>
                <a:schemeClr val="tx1"/>
              </a:solidFill>
            </a:endParaRP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F7F7A9A5-0C09-152E-3D3A-76480D00AA37}"/>
              </a:ext>
            </a:extLst>
          </p:cNvPr>
          <p:cNvSpPr/>
          <p:nvPr/>
        </p:nvSpPr>
        <p:spPr>
          <a:xfrm>
            <a:off x="1206566" y="831393"/>
            <a:ext cx="3785422" cy="2503595"/>
          </a:xfrm>
          <a:prstGeom prst="roundRect">
            <a:avLst/>
          </a:prstGeom>
          <a:solidFill>
            <a:srgbClr val="FFFF00">
              <a:alpha val="34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  <a:solidFill>
                <a:schemeClr val="tx1"/>
              </a:solidFill>
            </a:endParaRPr>
          </a:p>
        </p:txBody>
      </p:sp>
      <p:sp>
        <p:nvSpPr>
          <p:cNvPr id="196" name="TextBox 195" descr="autofix&#10;">
            <a:extLst>
              <a:ext uri="{FF2B5EF4-FFF2-40B4-BE49-F238E27FC236}">
                <a16:creationId xmlns:a16="http://schemas.microsoft.com/office/drawing/2014/main" id="{0A88D32B-F9B1-A0D6-FE9B-753AB46C2D57}"/>
              </a:ext>
            </a:extLst>
          </p:cNvPr>
          <p:cNvSpPr txBox="1"/>
          <p:nvPr/>
        </p:nvSpPr>
        <p:spPr>
          <a:xfrm>
            <a:off x="1536289" y="852501"/>
            <a:ext cx="378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Identify epibiont (bryozoan or hydrozoan) </a:t>
            </a:r>
          </a:p>
          <a:p>
            <a:pPr algn="ctr"/>
            <a:r>
              <a:rPr lang="en-GB" sz="900" dirty="0"/>
              <a:t>via microscopy on a blade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88AF573-CEBF-F0FB-B240-AE88CF77BDE7}"/>
              </a:ext>
            </a:extLst>
          </p:cNvPr>
          <p:cNvSpPr txBox="1"/>
          <p:nvPr/>
        </p:nvSpPr>
        <p:spPr>
          <a:xfrm>
            <a:off x="-2285257" y="1348846"/>
            <a:ext cx="11428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Extract species DNA (Dneasy Blood and tissue)</a:t>
            </a:r>
          </a:p>
        </p:txBody>
      </p:sp>
      <p:sp>
        <p:nvSpPr>
          <p:cNvPr id="198" name="TextBox 197" descr="autofix&#10;">
            <a:extLst>
              <a:ext uri="{FF2B5EF4-FFF2-40B4-BE49-F238E27FC236}">
                <a16:creationId xmlns:a16="http://schemas.microsoft.com/office/drawing/2014/main" id="{1240A8E8-2E56-DDB0-C76A-CFD153749C86}"/>
              </a:ext>
            </a:extLst>
          </p:cNvPr>
          <p:cNvSpPr txBox="1"/>
          <p:nvPr/>
        </p:nvSpPr>
        <p:spPr>
          <a:xfrm>
            <a:off x="1913861" y="1706691"/>
            <a:ext cx="30302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Assess concentration (Qubit) and Quality (Nanodrop)</a:t>
            </a:r>
          </a:p>
        </p:txBody>
      </p:sp>
      <p:sp>
        <p:nvSpPr>
          <p:cNvPr id="201" name="TextBox 200" descr="autofix&#10;">
            <a:extLst>
              <a:ext uri="{FF2B5EF4-FFF2-40B4-BE49-F238E27FC236}">
                <a16:creationId xmlns:a16="http://schemas.microsoft.com/office/drawing/2014/main" id="{84D97347-F82A-77F9-2E0F-7C6FEF8E3C85}"/>
              </a:ext>
            </a:extLst>
          </p:cNvPr>
          <p:cNvSpPr txBox="1"/>
          <p:nvPr/>
        </p:nvSpPr>
        <p:spPr>
          <a:xfrm>
            <a:off x="1866013" y="2043551"/>
            <a:ext cx="3125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PCR Amplification of COI gene using generic primers</a:t>
            </a:r>
          </a:p>
        </p:txBody>
      </p:sp>
      <p:sp>
        <p:nvSpPr>
          <p:cNvPr id="202" name="TextBox 201" descr="autofix&#10;">
            <a:extLst>
              <a:ext uri="{FF2B5EF4-FFF2-40B4-BE49-F238E27FC236}">
                <a16:creationId xmlns:a16="http://schemas.microsoft.com/office/drawing/2014/main" id="{10ACCCFE-6C3A-6A70-D7E4-BB4B99379AE4}"/>
              </a:ext>
            </a:extLst>
          </p:cNvPr>
          <p:cNvSpPr txBox="1"/>
          <p:nvPr/>
        </p:nvSpPr>
        <p:spPr>
          <a:xfrm>
            <a:off x="1769346" y="2401396"/>
            <a:ext cx="33193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Run on gel to ensure fragment size is expected for the species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2850515-779E-643C-6EFB-320EB5368C47}"/>
              </a:ext>
            </a:extLst>
          </p:cNvPr>
          <p:cNvSpPr txBox="1"/>
          <p:nvPr/>
        </p:nvSpPr>
        <p:spPr>
          <a:xfrm>
            <a:off x="2137144" y="3117091"/>
            <a:ext cx="25837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BLAST search sequence region to ID species</a:t>
            </a:r>
          </a:p>
        </p:txBody>
      </p:sp>
      <p:sp>
        <p:nvSpPr>
          <p:cNvPr id="205" name="TextBox 204" descr="autofix&#10;">
            <a:extLst>
              <a:ext uri="{FF2B5EF4-FFF2-40B4-BE49-F238E27FC236}">
                <a16:creationId xmlns:a16="http://schemas.microsoft.com/office/drawing/2014/main" id="{EA8AEFCC-5DD6-0A52-909A-19E018EE8AA2}"/>
              </a:ext>
            </a:extLst>
          </p:cNvPr>
          <p:cNvSpPr txBox="1"/>
          <p:nvPr/>
        </p:nvSpPr>
        <p:spPr>
          <a:xfrm>
            <a:off x="2137144" y="2759241"/>
            <a:ext cx="25837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Sequence amplified COI gene region (Dundee)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5271767-EF3A-ECD4-C4F6-E994382102AD}"/>
              </a:ext>
            </a:extLst>
          </p:cNvPr>
          <p:cNvSpPr txBox="1"/>
          <p:nvPr/>
        </p:nvSpPr>
        <p:spPr>
          <a:xfrm>
            <a:off x="-3589756" y="4616241"/>
            <a:ext cx="14037510" cy="261584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Database of biofouling species per taxon hydrozoa or bryozoa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A1140B0-CA78-45F2-C857-59468CD1BEC2}"/>
              </a:ext>
            </a:extLst>
          </p:cNvPr>
          <p:cNvSpPr txBox="1"/>
          <p:nvPr/>
        </p:nvSpPr>
        <p:spPr>
          <a:xfrm>
            <a:off x="-4603918" y="3787179"/>
            <a:ext cx="16320279" cy="357378"/>
          </a:xfrm>
          <a:prstGeom prst="rect">
            <a:avLst/>
          </a:prstGeom>
          <a:noFill/>
        </p:spPr>
        <p:txBody>
          <a:bodyPr wrap="square" lIns="216763" tIns="108381" rIns="216763" bIns="108381" rtlCol="0" anchor="t">
            <a:spAutoFit/>
          </a:bodyPr>
          <a:lstStyle/>
          <a:p>
            <a:pPr algn="ctr"/>
            <a:r>
              <a:rPr lang="en-GB" sz="900" dirty="0"/>
              <a:t>Repeat above steps for all Eppendorfs within a taxon (Hydrozoans/Bryozoans)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3643B3C6-9732-7644-940C-5F1C9FF14AC9}"/>
              </a:ext>
            </a:extLst>
          </p:cNvPr>
          <p:cNvSpPr txBox="1"/>
          <p:nvPr/>
        </p:nvSpPr>
        <p:spPr>
          <a:xfrm>
            <a:off x="1087470" y="4088327"/>
            <a:ext cx="4683059" cy="495878"/>
          </a:xfrm>
          <a:prstGeom prst="rect">
            <a:avLst/>
          </a:prstGeom>
          <a:noFill/>
        </p:spPr>
        <p:txBody>
          <a:bodyPr wrap="square" lIns="216763" tIns="108381" rIns="216763" bIns="108381" rtlCol="0" anchor="t">
            <a:spAutoFit/>
          </a:bodyPr>
          <a:lstStyle/>
          <a:p>
            <a:pPr algn="ctr"/>
            <a:r>
              <a:rPr lang="en-GB" sz="900" dirty="0"/>
              <a:t>Use resulting database of species/bases Build a phylogenetic tree to understand species relationships within the taxon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3383D71-5394-2294-3428-B5894EA43F23}"/>
              </a:ext>
            </a:extLst>
          </p:cNvPr>
          <p:cNvSpPr txBox="1"/>
          <p:nvPr/>
        </p:nvSpPr>
        <p:spPr>
          <a:xfrm>
            <a:off x="-2792062" y="5673460"/>
            <a:ext cx="9054870" cy="2308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ctr"/>
            <a:r>
              <a:rPr lang="en-GB" sz="900" dirty="0"/>
              <a:t>Species are few &lt;10 </a:t>
            </a:r>
            <a:endParaRPr lang="en-US" sz="9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2FCCF4D-4F34-6E5C-52AA-EE83E31C3901}"/>
              </a:ext>
            </a:extLst>
          </p:cNvPr>
          <p:cNvSpPr txBox="1"/>
          <p:nvPr/>
        </p:nvSpPr>
        <p:spPr>
          <a:xfrm>
            <a:off x="468688" y="5915075"/>
            <a:ext cx="2533372" cy="495878"/>
          </a:xfrm>
          <a:prstGeom prst="rect">
            <a:avLst/>
          </a:prstGeom>
          <a:noFill/>
        </p:spPr>
        <p:txBody>
          <a:bodyPr wrap="square" lIns="216763" tIns="108381" rIns="216763" bIns="108381" rtlCol="0" anchor="t">
            <a:spAutoFit/>
          </a:bodyPr>
          <a:lstStyle/>
          <a:p>
            <a:pPr algn="ctr"/>
            <a:r>
              <a:rPr lang="en-GB" sz="900" dirty="0"/>
              <a:t>Whole genome sequencing – Oxford Nanopore in UoG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B112DCCC-338F-BB06-42C2-423370565D1C}"/>
              </a:ext>
            </a:extLst>
          </p:cNvPr>
          <p:cNvSpPr txBox="1"/>
          <p:nvPr/>
        </p:nvSpPr>
        <p:spPr>
          <a:xfrm>
            <a:off x="715839" y="6975615"/>
            <a:ext cx="2129616" cy="400083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Design  species-specific primers targeting repeat regions DNA regions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16A1EE2-3D5C-4F53-97CC-863B5DB5A7A5}"/>
              </a:ext>
            </a:extLst>
          </p:cNvPr>
          <p:cNvSpPr txBox="1"/>
          <p:nvPr/>
        </p:nvSpPr>
        <p:spPr>
          <a:xfrm>
            <a:off x="565954" y="7519266"/>
            <a:ext cx="2338838" cy="400083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Design species-specific quantitative assays  (qPCR / ddPCR)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C13012F-9FEE-2B97-23AD-97EA30FCC499}"/>
              </a:ext>
            </a:extLst>
          </p:cNvPr>
          <p:cNvCxnSpPr>
            <a:cxnSpLocks/>
          </p:cNvCxnSpPr>
          <p:nvPr/>
        </p:nvCxnSpPr>
        <p:spPr>
          <a:xfrm>
            <a:off x="3429000" y="1222140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714005F1-633C-CFC6-BCFD-DBCF8224F3C5}"/>
              </a:ext>
            </a:extLst>
          </p:cNvPr>
          <p:cNvCxnSpPr>
            <a:cxnSpLocks/>
          </p:cNvCxnSpPr>
          <p:nvPr/>
        </p:nvCxnSpPr>
        <p:spPr>
          <a:xfrm>
            <a:off x="3524677" y="8982531"/>
            <a:ext cx="0" cy="457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40ABB61E-1C0C-752E-2150-40478802721F}"/>
              </a:ext>
            </a:extLst>
          </p:cNvPr>
          <p:cNvSpPr txBox="1"/>
          <p:nvPr/>
        </p:nvSpPr>
        <p:spPr>
          <a:xfrm>
            <a:off x="543304" y="6419838"/>
            <a:ext cx="2384139" cy="495878"/>
          </a:xfrm>
          <a:prstGeom prst="rect">
            <a:avLst/>
          </a:prstGeom>
          <a:noFill/>
        </p:spPr>
        <p:txBody>
          <a:bodyPr wrap="square" lIns="216763" tIns="108381" rIns="216763" bIns="108381" rtlCol="0" anchor="t">
            <a:spAutoFit/>
          </a:bodyPr>
          <a:lstStyle/>
          <a:p>
            <a:pPr algn="ctr"/>
            <a:r>
              <a:rPr lang="en-GB" sz="900" dirty="0"/>
              <a:t>Identify high copy number repeats – linux software / genomic mining </a:t>
            </a:r>
            <a:endParaRPr lang="en-GB" sz="900" dirty="0">
              <a:highlight>
                <a:srgbClr val="FFFF00"/>
              </a:highlight>
            </a:endParaRPr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6C957FB7-D012-A802-F8C6-C19D2ECC1AD2}"/>
              </a:ext>
            </a:extLst>
          </p:cNvPr>
          <p:cNvCxnSpPr>
            <a:cxnSpLocks/>
          </p:cNvCxnSpPr>
          <p:nvPr/>
        </p:nvCxnSpPr>
        <p:spPr>
          <a:xfrm>
            <a:off x="3429000" y="1916845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71CFF01C-797C-1E71-6B45-D1E3DD9D38D2}"/>
              </a:ext>
            </a:extLst>
          </p:cNvPr>
          <p:cNvCxnSpPr>
            <a:cxnSpLocks/>
          </p:cNvCxnSpPr>
          <p:nvPr/>
        </p:nvCxnSpPr>
        <p:spPr>
          <a:xfrm>
            <a:off x="3429000" y="1579985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3B46F5E4-4605-FC58-0B74-48CCD43D40A1}"/>
              </a:ext>
            </a:extLst>
          </p:cNvPr>
          <p:cNvCxnSpPr>
            <a:cxnSpLocks/>
          </p:cNvCxnSpPr>
          <p:nvPr/>
        </p:nvCxnSpPr>
        <p:spPr>
          <a:xfrm>
            <a:off x="3429000" y="2274690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2091149A-F85E-A5CC-A1DB-03EC2CA250A5}"/>
              </a:ext>
            </a:extLst>
          </p:cNvPr>
          <p:cNvCxnSpPr>
            <a:cxnSpLocks/>
          </p:cNvCxnSpPr>
          <p:nvPr/>
        </p:nvCxnSpPr>
        <p:spPr>
          <a:xfrm>
            <a:off x="3429000" y="2632535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7F53966-D408-8676-520C-6C7F5BBB8A69}"/>
              </a:ext>
            </a:extLst>
          </p:cNvPr>
          <p:cNvCxnSpPr>
            <a:cxnSpLocks/>
          </p:cNvCxnSpPr>
          <p:nvPr/>
        </p:nvCxnSpPr>
        <p:spPr>
          <a:xfrm>
            <a:off x="3429000" y="2990380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DC2A056A-D475-E11E-C113-35DD2F47D97F}"/>
              </a:ext>
            </a:extLst>
          </p:cNvPr>
          <p:cNvCxnSpPr>
            <a:cxnSpLocks/>
            <a:stCxn id="235" idx="0"/>
          </p:cNvCxnSpPr>
          <p:nvPr/>
        </p:nvCxnSpPr>
        <p:spPr>
          <a:xfrm>
            <a:off x="1735374" y="5915075"/>
            <a:ext cx="2652" cy="118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6B2F154-5510-4B5D-B95B-BBB5809C79C0}"/>
              </a:ext>
            </a:extLst>
          </p:cNvPr>
          <p:cNvCxnSpPr>
            <a:cxnSpLocks/>
          </p:cNvCxnSpPr>
          <p:nvPr/>
        </p:nvCxnSpPr>
        <p:spPr>
          <a:xfrm>
            <a:off x="1735374" y="6359063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DFCB884B-C7E1-DF87-E6DA-6FCE79F5CC6B}"/>
              </a:ext>
            </a:extLst>
          </p:cNvPr>
          <p:cNvCxnSpPr>
            <a:cxnSpLocks/>
          </p:cNvCxnSpPr>
          <p:nvPr/>
        </p:nvCxnSpPr>
        <p:spPr>
          <a:xfrm>
            <a:off x="1735373" y="7375698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3996D749-A96B-419A-9255-61BE7F116ADC}"/>
              </a:ext>
            </a:extLst>
          </p:cNvPr>
          <p:cNvCxnSpPr>
            <a:cxnSpLocks/>
          </p:cNvCxnSpPr>
          <p:nvPr/>
        </p:nvCxnSpPr>
        <p:spPr>
          <a:xfrm>
            <a:off x="1737361" y="6852516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62C1FA89-2613-9C34-8CB9-67E7F3BD7272}"/>
              </a:ext>
            </a:extLst>
          </p:cNvPr>
          <p:cNvCxnSpPr>
            <a:cxnSpLocks/>
          </p:cNvCxnSpPr>
          <p:nvPr/>
        </p:nvCxnSpPr>
        <p:spPr>
          <a:xfrm>
            <a:off x="3428999" y="4514773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CA1F8A7C-DA56-42FE-E2C9-5929269394DC}"/>
              </a:ext>
            </a:extLst>
          </p:cNvPr>
          <p:cNvCxnSpPr>
            <a:cxnSpLocks/>
            <a:stCxn id="218" idx="2"/>
          </p:cNvCxnSpPr>
          <p:nvPr/>
        </p:nvCxnSpPr>
        <p:spPr>
          <a:xfrm flipH="1">
            <a:off x="1735373" y="4877825"/>
            <a:ext cx="1693626" cy="713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C16B2D2E-5800-443D-9893-05A6D358E033}"/>
              </a:ext>
            </a:extLst>
          </p:cNvPr>
          <p:cNvCxnSpPr>
            <a:cxnSpLocks/>
          </p:cNvCxnSpPr>
          <p:nvPr/>
        </p:nvCxnSpPr>
        <p:spPr>
          <a:xfrm>
            <a:off x="3429000" y="4051898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34C9B7D4-4DD8-9724-4302-C5F8E7149BC9}"/>
              </a:ext>
            </a:extLst>
          </p:cNvPr>
          <p:cNvSpPr txBox="1"/>
          <p:nvPr/>
        </p:nvSpPr>
        <p:spPr>
          <a:xfrm rot="16200000">
            <a:off x="-49027" y="1753161"/>
            <a:ext cx="2995198" cy="649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16763" tIns="108381" rIns="216763" bIns="1083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SINGLE SPECIES  IDENTIFICATION</a:t>
            </a:r>
            <a:endParaRPr lang="en-US" sz="14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C1B63C8-51FE-6064-7A3E-D946720545F5}"/>
              </a:ext>
            </a:extLst>
          </p:cNvPr>
          <p:cNvSpPr txBox="1"/>
          <p:nvPr/>
        </p:nvSpPr>
        <p:spPr>
          <a:xfrm rot="16200000">
            <a:off x="329354" y="4037153"/>
            <a:ext cx="1374011" cy="649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16763" tIns="108381" rIns="216763" bIns="1083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GENETIC </a:t>
            </a:r>
            <a:endParaRPr lang="en-US" sz="1400" dirty="0"/>
          </a:p>
          <a:p>
            <a:pPr algn="ctr"/>
            <a:r>
              <a:rPr lang="en-GB" sz="1400" b="1" dirty="0"/>
              <a:t>DATABASE</a:t>
            </a:r>
            <a:endParaRPr lang="en-GB" sz="1400" dirty="0"/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E055F120-4956-B398-0D05-7E8097AC6522}"/>
              </a:ext>
            </a:extLst>
          </p:cNvPr>
          <p:cNvCxnSpPr>
            <a:cxnSpLocks/>
          </p:cNvCxnSpPr>
          <p:nvPr/>
        </p:nvCxnSpPr>
        <p:spPr>
          <a:xfrm flipH="1">
            <a:off x="3428999" y="3391468"/>
            <a:ext cx="1" cy="43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F535A5DC-3AED-099F-0D81-83FA6724AB76}"/>
              </a:ext>
            </a:extLst>
          </p:cNvPr>
          <p:cNvSpPr txBox="1"/>
          <p:nvPr/>
        </p:nvSpPr>
        <p:spPr>
          <a:xfrm rot="16200000">
            <a:off x="-924010" y="6367817"/>
            <a:ext cx="2673394" cy="649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16763" tIns="108381" rIns="216763" bIns="1083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SPECIES-SPECIFIC PRIMERS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1E01578-841B-745D-64A1-8B1E6822759F}"/>
              </a:ext>
            </a:extLst>
          </p:cNvPr>
          <p:cNvCxnSpPr>
            <a:cxnSpLocks/>
            <a:stCxn id="218" idx="2"/>
          </p:cNvCxnSpPr>
          <p:nvPr/>
        </p:nvCxnSpPr>
        <p:spPr>
          <a:xfrm>
            <a:off x="3428999" y="4877825"/>
            <a:ext cx="1683330" cy="72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B8C0861A-F06C-3842-A1C1-6FAC4E4FA80F}"/>
              </a:ext>
            </a:extLst>
          </p:cNvPr>
          <p:cNvSpPr txBox="1"/>
          <p:nvPr/>
        </p:nvSpPr>
        <p:spPr>
          <a:xfrm>
            <a:off x="127590" y="5669133"/>
            <a:ext cx="9520318" cy="2308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ctr"/>
            <a:r>
              <a:rPr lang="en-GB" sz="900" dirty="0"/>
              <a:t>Many species (i.e. &gt;15 : cost-dependent of WGS)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4D8E944-961D-D954-D736-8EE27AE6285E}"/>
              </a:ext>
            </a:extLst>
          </p:cNvPr>
          <p:cNvSpPr txBox="1"/>
          <p:nvPr/>
        </p:nvSpPr>
        <p:spPr>
          <a:xfrm>
            <a:off x="3242420" y="6484110"/>
            <a:ext cx="3369606" cy="538583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Develop primers that target multiple related species </a:t>
            </a:r>
          </a:p>
          <a:p>
            <a:pPr algn="ctr"/>
            <a:r>
              <a:rPr lang="en-GB" sz="900" dirty="0"/>
              <a:t>Using alignments of generic markers:  e.g. CO1, 18S, 24S  </a:t>
            </a:r>
          </a:p>
          <a:p>
            <a:pPr algn="ctr"/>
            <a:r>
              <a:rPr lang="en-GB" sz="900" dirty="0"/>
              <a:t> 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C1DB3DE9-8479-109B-780B-46437273C52B}"/>
              </a:ext>
            </a:extLst>
          </p:cNvPr>
          <p:cNvSpPr txBox="1"/>
          <p:nvPr/>
        </p:nvSpPr>
        <p:spPr>
          <a:xfrm>
            <a:off x="3202947" y="7053874"/>
            <a:ext cx="3369606" cy="400083"/>
          </a:xfrm>
          <a:prstGeom prst="rect">
            <a:avLst/>
          </a:prstGeom>
          <a:noFill/>
          <a:ln>
            <a:noFill/>
          </a:ln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Validate clade primer by amplifying each species/Eppendorf and amplicon deep sequence  (Gene whizz) 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C0BE7513-4882-7014-A85B-473151076759}"/>
              </a:ext>
            </a:extLst>
          </p:cNvPr>
          <p:cNvSpPr txBox="1"/>
          <p:nvPr/>
        </p:nvSpPr>
        <p:spPr>
          <a:xfrm>
            <a:off x="140811" y="7572870"/>
            <a:ext cx="9606658" cy="261584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900" dirty="0"/>
              <a:t>Confirm clade-level specificity and group genetic diversity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3D048983-ED0B-EBA8-5296-602D0C7558FB}"/>
              </a:ext>
            </a:extLst>
          </p:cNvPr>
          <p:cNvSpPr txBox="1"/>
          <p:nvPr/>
        </p:nvSpPr>
        <p:spPr>
          <a:xfrm>
            <a:off x="3282291" y="5929902"/>
            <a:ext cx="3210917" cy="495878"/>
          </a:xfrm>
          <a:prstGeom prst="rect">
            <a:avLst/>
          </a:prstGeom>
          <a:noFill/>
        </p:spPr>
        <p:txBody>
          <a:bodyPr wrap="square" lIns="216763" tIns="108381" rIns="216763" bIns="108381" rtlCol="0" anchor="t">
            <a:spAutoFit/>
          </a:bodyPr>
          <a:lstStyle/>
          <a:p>
            <a:pPr algn="ctr"/>
            <a:r>
              <a:rPr lang="en-GB" sz="900" dirty="0"/>
              <a:t>Consult the phylogenetic tree of e.g. hydrozoan to identify taxonomic level for primer development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04AB2302-70F5-0D64-4540-30872F00A0BF}"/>
              </a:ext>
            </a:extLst>
          </p:cNvPr>
          <p:cNvSpPr txBox="1"/>
          <p:nvPr/>
        </p:nvSpPr>
        <p:spPr>
          <a:xfrm rot="5400000">
            <a:off x="5144976" y="6558133"/>
            <a:ext cx="2838582" cy="434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16763" tIns="108381" rIns="216763" bIns="10838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CLADE-SPECIFIC PRIMERS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C39C1BA8-A16A-3A8B-3F32-CDCABE45F280}"/>
              </a:ext>
            </a:extLst>
          </p:cNvPr>
          <p:cNvCxnSpPr>
            <a:cxnSpLocks/>
          </p:cNvCxnSpPr>
          <p:nvPr/>
        </p:nvCxnSpPr>
        <p:spPr>
          <a:xfrm>
            <a:off x="5116000" y="5892549"/>
            <a:ext cx="2652" cy="118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41C46C86-BBBB-5CF0-49EF-E7E6B5A78523}"/>
              </a:ext>
            </a:extLst>
          </p:cNvPr>
          <p:cNvCxnSpPr>
            <a:cxnSpLocks/>
          </p:cNvCxnSpPr>
          <p:nvPr/>
        </p:nvCxnSpPr>
        <p:spPr>
          <a:xfrm>
            <a:off x="5116000" y="6352439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CA59D351-762A-A55E-694C-19C7DCD78913}"/>
              </a:ext>
            </a:extLst>
          </p:cNvPr>
          <p:cNvCxnSpPr>
            <a:cxnSpLocks/>
          </p:cNvCxnSpPr>
          <p:nvPr/>
        </p:nvCxnSpPr>
        <p:spPr>
          <a:xfrm>
            <a:off x="5115999" y="7440636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56ABADBB-EDD0-FD46-8319-79B5ED41A6F5}"/>
              </a:ext>
            </a:extLst>
          </p:cNvPr>
          <p:cNvCxnSpPr>
            <a:cxnSpLocks/>
          </p:cNvCxnSpPr>
          <p:nvPr/>
        </p:nvCxnSpPr>
        <p:spPr>
          <a:xfrm>
            <a:off x="5117987" y="6853843"/>
            <a:ext cx="0" cy="12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EDA23FCC-9E58-07B6-3923-6F7819550600}"/>
              </a:ext>
            </a:extLst>
          </p:cNvPr>
          <p:cNvCxnSpPr>
            <a:cxnSpLocks/>
          </p:cNvCxnSpPr>
          <p:nvPr/>
        </p:nvCxnSpPr>
        <p:spPr>
          <a:xfrm>
            <a:off x="1887773" y="7951970"/>
            <a:ext cx="1646584" cy="687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6239C43E-9B24-485E-91F5-F188FB1D4BA4}"/>
              </a:ext>
            </a:extLst>
          </p:cNvPr>
          <p:cNvCxnSpPr>
            <a:cxnSpLocks/>
          </p:cNvCxnSpPr>
          <p:nvPr/>
        </p:nvCxnSpPr>
        <p:spPr>
          <a:xfrm flipH="1">
            <a:off x="3571103" y="7961639"/>
            <a:ext cx="1693626" cy="67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1A39EC93-1F0E-5D5C-A6AB-EC3052628AA6}"/>
              </a:ext>
            </a:extLst>
          </p:cNvPr>
          <p:cNvSpPr txBox="1"/>
          <p:nvPr/>
        </p:nvSpPr>
        <p:spPr>
          <a:xfrm>
            <a:off x="140811" y="8676716"/>
            <a:ext cx="6799485" cy="284667"/>
          </a:xfrm>
          <a:prstGeom prst="rect">
            <a:avLst/>
          </a:prstGeom>
          <a:noFill/>
        </p:spPr>
        <p:txBody>
          <a:bodyPr wrap="square" lIns="121894" tIns="60947" rIns="121894" bIns="60947" rtlCol="0" anchor="t">
            <a:spAutoFit/>
          </a:bodyPr>
          <a:lstStyle/>
          <a:p>
            <a:pPr algn="ctr"/>
            <a:r>
              <a:rPr lang="en-GB" sz="1050" dirty="0"/>
              <a:t>Decide if focus on species-specific targets and / or broader taxonomic group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F857BF8-7A48-39C6-50D7-3BE42097726B}"/>
              </a:ext>
            </a:extLst>
          </p:cNvPr>
          <p:cNvSpPr txBox="1"/>
          <p:nvPr/>
        </p:nvSpPr>
        <p:spPr>
          <a:xfrm>
            <a:off x="1242695" y="323042"/>
            <a:ext cx="4563963" cy="3077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/>
              <a:t>Stage 1 : Epibiont sequencing and primer design </a:t>
            </a:r>
          </a:p>
        </p:txBody>
      </p:sp>
    </p:spTree>
    <p:extLst>
      <p:ext uri="{BB962C8B-B14F-4D97-AF65-F5344CB8AC3E}">
        <p14:creationId xmlns:p14="http://schemas.microsoft.com/office/powerpoint/2010/main" val="81931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5820046-8C85-09C6-B9DF-B98F78734019}"/>
              </a:ext>
            </a:extLst>
          </p:cNvPr>
          <p:cNvSpPr/>
          <p:nvPr/>
        </p:nvSpPr>
        <p:spPr>
          <a:xfrm>
            <a:off x="2363147" y="1406904"/>
            <a:ext cx="1498593" cy="2138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9000"/>
            </a:scheme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8CC04B30-3077-E50D-CD4B-C09ACEF15B4F}"/>
              </a:ext>
            </a:extLst>
          </p:cNvPr>
          <p:cNvSpPr/>
          <p:nvPr/>
        </p:nvSpPr>
        <p:spPr>
          <a:xfrm>
            <a:off x="4204925" y="1565431"/>
            <a:ext cx="1987508" cy="897874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9000"/>
            </a:scheme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 dirty="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CD9E3E90-0E76-DEA9-50BF-F10258C62B8D}"/>
              </a:ext>
            </a:extLst>
          </p:cNvPr>
          <p:cNvSpPr/>
          <p:nvPr/>
        </p:nvSpPr>
        <p:spPr>
          <a:xfrm>
            <a:off x="114115" y="2953926"/>
            <a:ext cx="1834592" cy="35760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9000"/>
            </a:scheme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3A56852-C375-A7DF-748E-31FE33A5096F}"/>
              </a:ext>
            </a:extLst>
          </p:cNvPr>
          <p:cNvSpPr/>
          <p:nvPr/>
        </p:nvSpPr>
        <p:spPr>
          <a:xfrm>
            <a:off x="61876" y="1007772"/>
            <a:ext cx="1350181" cy="111531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9000"/>
            </a:scheme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40612-AE71-2646-D233-4DB1BA58EBFC}"/>
              </a:ext>
            </a:extLst>
          </p:cNvPr>
          <p:cNvSpPr txBox="1"/>
          <p:nvPr/>
        </p:nvSpPr>
        <p:spPr>
          <a:xfrm>
            <a:off x="1047207" y="249127"/>
            <a:ext cx="47635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/>
              <a:t>Step 2: Primer validation and use in environmental samples</a:t>
            </a:r>
          </a:p>
        </p:txBody>
      </p:sp>
      <p:sp>
        <p:nvSpPr>
          <p:cNvPr id="89" name="TextBox 36">
            <a:extLst>
              <a:ext uri="{FF2B5EF4-FFF2-40B4-BE49-F238E27FC236}">
                <a16:creationId xmlns:a16="http://schemas.microsoft.com/office/drawing/2014/main" id="{BEE58DBE-2E6D-92CB-0A4B-E5D18C898B8D}"/>
              </a:ext>
            </a:extLst>
          </p:cNvPr>
          <p:cNvSpPr txBox="1"/>
          <p:nvPr/>
        </p:nvSpPr>
        <p:spPr>
          <a:xfrm>
            <a:off x="-6823532" y="780685"/>
            <a:ext cx="20217948" cy="190416"/>
          </a:xfrm>
          <a:prstGeom prst="rect">
            <a:avLst/>
          </a:prstGeom>
          <a:noFill/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Decide if focus on species-specific or broader taxonomic group</a:t>
            </a:r>
          </a:p>
        </p:txBody>
      </p:sp>
      <p:sp>
        <p:nvSpPr>
          <p:cNvPr id="90" name="TextBox 55">
            <a:extLst>
              <a:ext uri="{FF2B5EF4-FFF2-40B4-BE49-F238E27FC236}">
                <a16:creationId xmlns:a16="http://schemas.microsoft.com/office/drawing/2014/main" id="{0A245737-5055-41D7-E48D-4E72EE7229B7}"/>
              </a:ext>
            </a:extLst>
          </p:cNvPr>
          <p:cNvSpPr txBox="1"/>
          <p:nvPr/>
        </p:nvSpPr>
        <p:spPr>
          <a:xfrm>
            <a:off x="4164874" y="1554917"/>
            <a:ext cx="1987509" cy="605914"/>
          </a:xfrm>
          <a:prstGeom prst="rect">
            <a:avLst/>
          </a:prstGeom>
          <a:noFill/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Align sequences from conserved loci (CO1, 18S, 24S) within clade</a:t>
            </a:r>
          </a:p>
          <a:p>
            <a:pPr algn="ctr"/>
            <a:endParaRPr lang="en-GB" sz="900" dirty="0"/>
          </a:p>
          <a:p>
            <a:pPr algn="ctr"/>
            <a:endParaRPr lang="en-GB" sz="900" dirty="0"/>
          </a:p>
        </p:txBody>
      </p:sp>
      <p:sp>
        <p:nvSpPr>
          <p:cNvPr id="91" name="TextBox 67">
            <a:extLst>
              <a:ext uri="{FF2B5EF4-FFF2-40B4-BE49-F238E27FC236}">
                <a16:creationId xmlns:a16="http://schemas.microsoft.com/office/drawing/2014/main" id="{2151C392-CD9B-AABA-D966-5112FCFEB950}"/>
              </a:ext>
            </a:extLst>
          </p:cNvPr>
          <p:cNvSpPr txBox="1"/>
          <p:nvPr/>
        </p:nvSpPr>
        <p:spPr>
          <a:xfrm>
            <a:off x="4320498" y="2134390"/>
            <a:ext cx="1676259" cy="328915"/>
          </a:xfrm>
          <a:prstGeom prst="rect">
            <a:avLst/>
          </a:prstGeom>
          <a:noFill/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Design primers to amplify only desired species group</a:t>
            </a:r>
          </a:p>
        </p:txBody>
      </p:sp>
      <p:sp>
        <p:nvSpPr>
          <p:cNvPr id="92" name="TextBox 85">
            <a:extLst>
              <a:ext uri="{FF2B5EF4-FFF2-40B4-BE49-F238E27FC236}">
                <a16:creationId xmlns:a16="http://schemas.microsoft.com/office/drawing/2014/main" id="{928F806B-D754-2F89-05AD-B8FEC8037BC0}"/>
              </a:ext>
            </a:extLst>
          </p:cNvPr>
          <p:cNvSpPr txBox="1"/>
          <p:nvPr/>
        </p:nvSpPr>
        <p:spPr>
          <a:xfrm>
            <a:off x="2345710" y="1418618"/>
            <a:ext cx="1516032" cy="190416"/>
          </a:xfrm>
          <a:prstGeom prst="rect">
            <a:avLst/>
          </a:prstGeom>
          <a:noFill/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Validate designed primers</a:t>
            </a:r>
          </a:p>
        </p:txBody>
      </p:sp>
      <p:sp>
        <p:nvSpPr>
          <p:cNvPr id="93" name="TextBox 94">
            <a:extLst>
              <a:ext uri="{FF2B5EF4-FFF2-40B4-BE49-F238E27FC236}">
                <a16:creationId xmlns:a16="http://schemas.microsoft.com/office/drawing/2014/main" id="{B0F8ADC4-6082-A996-9E48-670B8E965CB8}"/>
              </a:ext>
            </a:extLst>
          </p:cNvPr>
          <p:cNvSpPr txBox="1"/>
          <p:nvPr/>
        </p:nvSpPr>
        <p:spPr>
          <a:xfrm>
            <a:off x="103750" y="1007772"/>
            <a:ext cx="1266431" cy="467414"/>
          </a:xfrm>
          <a:prstGeom prst="rect">
            <a:avLst/>
          </a:prstGeom>
          <a:noFill/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Test with known +/- samples to confirm specificity </a:t>
            </a:r>
          </a:p>
        </p:txBody>
      </p:sp>
      <p:sp>
        <p:nvSpPr>
          <p:cNvPr id="94" name="TextBox 95">
            <a:extLst>
              <a:ext uri="{FF2B5EF4-FFF2-40B4-BE49-F238E27FC236}">
                <a16:creationId xmlns:a16="http://schemas.microsoft.com/office/drawing/2014/main" id="{6794BD21-12EA-AA92-F511-79CD2B8227EB}"/>
              </a:ext>
            </a:extLst>
          </p:cNvPr>
          <p:cNvSpPr txBox="1"/>
          <p:nvPr/>
        </p:nvSpPr>
        <p:spPr>
          <a:xfrm flipH="1">
            <a:off x="61875" y="1655676"/>
            <a:ext cx="1350182" cy="467414"/>
          </a:xfrm>
          <a:prstGeom prst="rect">
            <a:avLst/>
          </a:prstGeom>
          <a:noFill/>
          <a:ln>
            <a:noFill/>
          </a:ln>
        </p:spPr>
        <p:txBody>
          <a:bodyPr wrap="square" lIns="51413" tIns="25707" rIns="51413" bIns="25707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Optimise annealing temperature and reaction conditions</a:t>
            </a:r>
          </a:p>
        </p:txBody>
      </p:sp>
      <p:sp>
        <p:nvSpPr>
          <p:cNvPr id="95" name="TextBox 98">
            <a:extLst>
              <a:ext uri="{FF2B5EF4-FFF2-40B4-BE49-F238E27FC236}">
                <a16:creationId xmlns:a16="http://schemas.microsoft.com/office/drawing/2014/main" id="{1088EF80-0536-51E7-AC68-AB72DBB02D65}"/>
              </a:ext>
            </a:extLst>
          </p:cNvPr>
          <p:cNvSpPr txBox="1"/>
          <p:nvPr/>
        </p:nvSpPr>
        <p:spPr>
          <a:xfrm>
            <a:off x="2450277" y="2953926"/>
            <a:ext cx="1213650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Perform qPCR / ddPCR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3D42BDF-13D3-6494-7B40-B9858156ECBC}"/>
              </a:ext>
            </a:extLst>
          </p:cNvPr>
          <p:cNvCxnSpPr>
            <a:cxnSpLocks/>
          </p:cNvCxnSpPr>
          <p:nvPr/>
        </p:nvCxnSpPr>
        <p:spPr>
          <a:xfrm>
            <a:off x="3072948" y="971101"/>
            <a:ext cx="0" cy="445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7DBC5FB-0CBC-5492-DE63-ACFBEC2606BB}"/>
              </a:ext>
            </a:extLst>
          </p:cNvPr>
          <p:cNvCxnSpPr>
            <a:cxnSpLocks/>
          </p:cNvCxnSpPr>
          <p:nvPr/>
        </p:nvCxnSpPr>
        <p:spPr>
          <a:xfrm>
            <a:off x="3072947" y="1653846"/>
            <a:ext cx="0" cy="1288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55E4C40-B28E-B900-067C-8476FDB18305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4164874" y="971101"/>
            <a:ext cx="993755" cy="583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BBC4BD7-92CE-F0FD-8859-89D2549FD48F}"/>
              </a:ext>
            </a:extLst>
          </p:cNvPr>
          <p:cNvCxnSpPr>
            <a:cxnSpLocks/>
            <a:stCxn id="92" idx="1"/>
          </p:cNvCxnSpPr>
          <p:nvPr/>
        </p:nvCxnSpPr>
        <p:spPr>
          <a:xfrm flipH="1">
            <a:off x="1479451" y="1513826"/>
            <a:ext cx="866259" cy="9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33">
            <a:extLst>
              <a:ext uri="{FF2B5EF4-FFF2-40B4-BE49-F238E27FC236}">
                <a16:creationId xmlns:a16="http://schemas.microsoft.com/office/drawing/2014/main" id="{248D9FE8-C266-0AFE-B198-4906DE11A36F}"/>
              </a:ext>
            </a:extLst>
          </p:cNvPr>
          <p:cNvSpPr txBox="1"/>
          <p:nvPr/>
        </p:nvSpPr>
        <p:spPr>
          <a:xfrm>
            <a:off x="3720" y="2942212"/>
            <a:ext cx="1977301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Filter plankton eDNA from farm seawater and extract 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852B833-5884-9770-8F92-DA7E85432C52}"/>
              </a:ext>
            </a:extLst>
          </p:cNvPr>
          <p:cNvCxnSpPr>
            <a:cxnSpLocks/>
          </p:cNvCxnSpPr>
          <p:nvPr/>
        </p:nvCxnSpPr>
        <p:spPr>
          <a:xfrm>
            <a:off x="2025414" y="3124693"/>
            <a:ext cx="542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C5999EA-03E2-45B4-F7A9-9CBE045E796D}"/>
              </a:ext>
            </a:extLst>
          </p:cNvPr>
          <p:cNvCxnSpPr/>
          <p:nvPr/>
        </p:nvCxnSpPr>
        <p:spPr>
          <a:xfrm>
            <a:off x="2665506" y="971101"/>
            <a:ext cx="763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FB7BBDF-E160-ADE9-5033-C2A411EE933B}"/>
              </a:ext>
            </a:extLst>
          </p:cNvPr>
          <p:cNvCxnSpPr/>
          <p:nvPr/>
        </p:nvCxnSpPr>
        <p:spPr>
          <a:xfrm>
            <a:off x="3621741" y="971101"/>
            <a:ext cx="1225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281C740-B4E1-5F9F-D179-52170B3ACA36}"/>
              </a:ext>
            </a:extLst>
          </p:cNvPr>
          <p:cNvCxnSpPr>
            <a:cxnSpLocks/>
          </p:cNvCxnSpPr>
          <p:nvPr/>
        </p:nvCxnSpPr>
        <p:spPr>
          <a:xfrm flipH="1" flipV="1">
            <a:off x="3663927" y="1665063"/>
            <a:ext cx="502242" cy="403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DFF03C73-E0C1-05BC-5C83-B513D2CE66FA}"/>
              </a:ext>
            </a:extLst>
          </p:cNvPr>
          <p:cNvSpPr/>
          <p:nvPr/>
        </p:nvSpPr>
        <p:spPr>
          <a:xfrm>
            <a:off x="1047207" y="4082005"/>
            <a:ext cx="3987555" cy="96140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8000"/>
            </a:scheme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141" name="TextBox 101">
            <a:extLst>
              <a:ext uri="{FF2B5EF4-FFF2-40B4-BE49-F238E27FC236}">
                <a16:creationId xmlns:a16="http://schemas.microsoft.com/office/drawing/2014/main" id="{4232DF24-E2F4-C722-92C3-69E13F257E13}"/>
              </a:ext>
            </a:extLst>
          </p:cNvPr>
          <p:cNvSpPr txBox="1"/>
          <p:nvPr/>
        </p:nvSpPr>
        <p:spPr>
          <a:xfrm>
            <a:off x="853655" y="4114037"/>
            <a:ext cx="4438584" cy="253904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dirty="0"/>
              <a:t>Quantify  target species or clades within a sample</a:t>
            </a:r>
          </a:p>
        </p:txBody>
      </p:sp>
      <p:sp>
        <p:nvSpPr>
          <p:cNvPr id="142" name="TextBox 103">
            <a:extLst>
              <a:ext uri="{FF2B5EF4-FFF2-40B4-BE49-F238E27FC236}">
                <a16:creationId xmlns:a16="http://schemas.microsoft.com/office/drawing/2014/main" id="{0D67F048-B422-66D7-B787-4AF41571F851}"/>
              </a:ext>
            </a:extLst>
          </p:cNvPr>
          <p:cNvSpPr txBox="1"/>
          <p:nvPr/>
        </p:nvSpPr>
        <p:spPr>
          <a:xfrm>
            <a:off x="1912580" y="4568623"/>
            <a:ext cx="2494364" cy="415486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dirty="0"/>
              <a:t>Parametrize DNA results with environmental conditions</a:t>
            </a:r>
          </a:p>
        </p:txBody>
      </p:sp>
      <p:sp>
        <p:nvSpPr>
          <p:cNvPr id="143" name="TextBox 84">
            <a:extLst>
              <a:ext uri="{FF2B5EF4-FFF2-40B4-BE49-F238E27FC236}">
                <a16:creationId xmlns:a16="http://schemas.microsoft.com/office/drawing/2014/main" id="{5D16E7D2-8C49-F715-6350-C328EEB9495C}"/>
              </a:ext>
            </a:extLst>
          </p:cNvPr>
          <p:cNvSpPr txBox="1"/>
          <p:nvPr/>
        </p:nvSpPr>
        <p:spPr>
          <a:xfrm rot="16200000">
            <a:off x="882276" y="4331108"/>
            <a:ext cx="1059562" cy="523208"/>
          </a:xfrm>
          <a:prstGeom prst="rect">
            <a:avLst/>
          </a:prstGeom>
          <a:noFill/>
        </p:spPr>
        <p:txBody>
          <a:bodyPr rot="0" spcFirstLastPara="0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400" b="1" dirty="0"/>
              <a:t>PROJECT AIM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B656786-314E-3CE5-DFAF-4E9882862B55}"/>
              </a:ext>
            </a:extLst>
          </p:cNvPr>
          <p:cNvCxnSpPr>
            <a:cxnSpLocks/>
            <a:endCxn id="91" idx="0"/>
          </p:cNvCxnSpPr>
          <p:nvPr/>
        </p:nvCxnSpPr>
        <p:spPr>
          <a:xfrm>
            <a:off x="5158627" y="1889383"/>
            <a:ext cx="1" cy="245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Plus Sign 151">
            <a:extLst>
              <a:ext uri="{FF2B5EF4-FFF2-40B4-BE49-F238E27FC236}">
                <a16:creationId xmlns:a16="http://schemas.microsoft.com/office/drawing/2014/main" id="{16903D24-5FD6-9013-09A6-A63A176DA98B}"/>
              </a:ext>
            </a:extLst>
          </p:cNvPr>
          <p:cNvSpPr/>
          <p:nvPr/>
        </p:nvSpPr>
        <p:spPr>
          <a:xfrm>
            <a:off x="637542" y="1493431"/>
            <a:ext cx="144000" cy="144000"/>
          </a:xfrm>
          <a:prstGeom prst="mathPlus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F458C85-875B-3C3B-6CB8-502DF5DCEC51}"/>
              </a:ext>
            </a:extLst>
          </p:cNvPr>
          <p:cNvCxnSpPr>
            <a:cxnSpLocks/>
          </p:cNvCxnSpPr>
          <p:nvPr/>
        </p:nvCxnSpPr>
        <p:spPr>
          <a:xfrm>
            <a:off x="3072947" y="3338700"/>
            <a:ext cx="0" cy="644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2AFDA64-C63B-44E7-BFDC-EA5D194832F9}"/>
              </a:ext>
            </a:extLst>
          </p:cNvPr>
          <p:cNvCxnSpPr>
            <a:cxnSpLocks/>
          </p:cNvCxnSpPr>
          <p:nvPr/>
        </p:nvCxnSpPr>
        <p:spPr>
          <a:xfrm>
            <a:off x="3069134" y="4394234"/>
            <a:ext cx="0" cy="154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069C995E-1FE7-6EF9-F4D6-9A9055F1F022}"/>
              </a:ext>
            </a:extLst>
          </p:cNvPr>
          <p:cNvSpPr/>
          <p:nvPr/>
        </p:nvSpPr>
        <p:spPr>
          <a:xfrm>
            <a:off x="61875" y="6213716"/>
            <a:ext cx="3674080" cy="3491700"/>
          </a:xfrm>
          <a:prstGeom prst="roundRect">
            <a:avLst/>
          </a:prstGeom>
          <a:solidFill>
            <a:srgbClr val="BFBFBF">
              <a:alpha val="7843"/>
            </a:srgbClr>
          </a:solidFill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158" name="TextBox 108">
            <a:extLst>
              <a:ext uri="{FF2B5EF4-FFF2-40B4-BE49-F238E27FC236}">
                <a16:creationId xmlns:a16="http://schemas.microsoft.com/office/drawing/2014/main" id="{43DDB2C5-75B1-F9A5-EB88-DE2A013F18E8}"/>
              </a:ext>
            </a:extLst>
          </p:cNvPr>
          <p:cNvSpPr txBox="1"/>
          <p:nvPr/>
        </p:nvSpPr>
        <p:spPr>
          <a:xfrm>
            <a:off x="429554" y="6307391"/>
            <a:ext cx="3273219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Amplify target DNA (species-specific or clade-level) using designed primers  (PCR)</a:t>
            </a:r>
          </a:p>
        </p:txBody>
      </p:sp>
      <p:sp>
        <p:nvSpPr>
          <p:cNvPr id="159" name="TextBox 109">
            <a:extLst>
              <a:ext uri="{FF2B5EF4-FFF2-40B4-BE49-F238E27FC236}">
                <a16:creationId xmlns:a16="http://schemas.microsoft.com/office/drawing/2014/main" id="{F02AB265-D4D3-AA6F-3D86-19E6C0A00BFD}"/>
              </a:ext>
            </a:extLst>
          </p:cNvPr>
          <p:cNvSpPr txBox="1"/>
          <p:nvPr/>
        </p:nvSpPr>
        <p:spPr>
          <a:xfrm>
            <a:off x="569737" y="6958596"/>
            <a:ext cx="2992852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Sequence amplification product using deep sequencing 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illumina</a:t>
            </a:r>
            <a:r>
              <a:rPr lang="en-US" sz="900" dirty="0"/>
              <a:t>/</a:t>
            </a:r>
            <a:r>
              <a:rPr lang="en-US" sz="900" dirty="0" err="1"/>
              <a:t>MiSeq</a:t>
            </a:r>
            <a:r>
              <a:rPr lang="en-US" sz="900" dirty="0"/>
              <a:t>/</a:t>
            </a:r>
            <a:r>
              <a:rPr lang="en-US" sz="900" dirty="0" err="1"/>
              <a:t>NextSeq</a:t>
            </a:r>
            <a:r>
              <a:rPr lang="en-US" sz="900" dirty="0"/>
              <a:t>)</a:t>
            </a:r>
          </a:p>
        </p:txBody>
      </p:sp>
      <p:sp>
        <p:nvSpPr>
          <p:cNvPr id="160" name="TextBox 110">
            <a:extLst>
              <a:ext uri="{FF2B5EF4-FFF2-40B4-BE49-F238E27FC236}">
                <a16:creationId xmlns:a16="http://schemas.microsoft.com/office/drawing/2014/main" id="{9C537D7E-688A-4623-4E35-1F8466D89AEE}"/>
              </a:ext>
            </a:extLst>
          </p:cNvPr>
          <p:cNvSpPr txBox="1"/>
          <p:nvPr/>
        </p:nvSpPr>
        <p:spPr>
          <a:xfrm>
            <a:off x="681391" y="7549492"/>
            <a:ext cx="2534632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Generate high-throughput sequence data for each primer</a:t>
            </a:r>
          </a:p>
        </p:txBody>
      </p:sp>
      <p:sp>
        <p:nvSpPr>
          <p:cNvPr id="161" name="TextBox 111">
            <a:extLst>
              <a:ext uri="{FF2B5EF4-FFF2-40B4-BE49-F238E27FC236}">
                <a16:creationId xmlns:a16="http://schemas.microsoft.com/office/drawing/2014/main" id="{7AB2F778-563B-F85E-27B2-1037946C7291}"/>
              </a:ext>
            </a:extLst>
          </p:cNvPr>
          <p:cNvSpPr txBox="1"/>
          <p:nvPr/>
        </p:nvSpPr>
        <p:spPr>
          <a:xfrm>
            <a:off x="506727" y="8087704"/>
            <a:ext cx="2883959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Validate amplified DNA aligns with target species / clade specifically </a:t>
            </a:r>
          </a:p>
        </p:txBody>
      </p:sp>
      <p:sp>
        <p:nvSpPr>
          <p:cNvPr id="162" name="TextBox 9">
            <a:extLst>
              <a:ext uri="{FF2B5EF4-FFF2-40B4-BE49-F238E27FC236}">
                <a16:creationId xmlns:a16="http://schemas.microsoft.com/office/drawing/2014/main" id="{868971F2-9B82-9BB7-4079-9BBD24AAE2A5}"/>
              </a:ext>
            </a:extLst>
          </p:cNvPr>
          <p:cNvSpPr txBox="1"/>
          <p:nvPr/>
        </p:nvSpPr>
        <p:spPr>
          <a:xfrm>
            <a:off x="140565" y="8738876"/>
            <a:ext cx="3680912" cy="2308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Identify off-target amplification / biases / cross-reactivity </a:t>
            </a:r>
          </a:p>
        </p:txBody>
      </p:sp>
      <p:sp>
        <p:nvSpPr>
          <p:cNvPr id="163" name="TextBox 29">
            <a:extLst>
              <a:ext uri="{FF2B5EF4-FFF2-40B4-BE49-F238E27FC236}">
                <a16:creationId xmlns:a16="http://schemas.microsoft.com/office/drawing/2014/main" id="{74F322D3-85C3-494A-88F2-0EE03F79E55C}"/>
              </a:ext>
            </a:extLst>
          </p:cNvPr>
          <p:cNvSpPr txBox="1"/>
          <p:nvPr/>
        </p:nvSpPr>
        <p:spPr>
          <a:xfrm>
            <a:off x="899855" y="9251548"/>
            <a:ext cx="2025450" cy="2308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Refine primer specificity </a:t>
            </a:r>
          </a:p>
        </p:txBody>
      </p:sp>
      <p:sp>
        <p:nvSpPr>
          <p:cNvPr id="164" name="TextBox 70">
            <a:extLst>
              <a:ext uri="{FF2B5EF4-FFF2-40B4-BE49-F238E27FC236}">
                <a16:creationId xmlns:a16="http://schemas.microsoft.com/office/drawing/2014/main" id="{84B127A7-5F90-C7C3-0386-1BF4CC03E98C}"/>
              </a:ext>
            </a:extLst>
          </p:cNvPr>
          <p:cNvSpPr txBox="1"/>
          <p:nvPr/>
        </p:nvSpPr>
        <p:spPr>
          <a:xfrm rot="5400000" flipV="1">
            <a:off x="-1516232" y="7513751"/>
            <a:ext cx="3708957" cy="338542"/>
          </a:xfrm>
          <a:prstGeom prst="rect">
            <a:avLst/>
          </a:prstGeom>
          <a:noFill/>
        </p:spPr>
        <p:txBody>
          <a:bodyPr rot="0" spcFirstLastPara="0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dirty="0"/>
              <a:t>DEEP-SEQUENCING VALIDATION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E1C54EB-0FC3-B67B-D766-A2E0F03D3BCD}"/>
              </a:ext>
            </a:extLst>
          </p:cNvPr>
          <p:cNvCxnSpPr>
            <a:cxnSpLocks/>
          </p:cNvCxnSpPr>
          <p:nvPr/>
        </p:nvCxnSpPr>
        <p:spPr>
          <a:xfrm>
            <a:off x="1948706" y="6705631"/>
            <a:ext cx="0" cy="25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022994F-374D-28B6-EABB-0BF834D48206}"/>
              </a:ext>
            </a:extLst>
          </p:cNvPr>
          <p:cNvCxnSpPr>
            <a:cxnSpLocks/>
          </p:cNvCxnSpPr>
          <p:nvPr/>
        </p:nvCxnSpPr>
        <p:spPr>
          <a:xfrm>
            <a:off x="1948706" y="7343806"/>
            <a:ext cx="0" cy="25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A1C689D-CFF9-F52F-8702-26E65DDD698C}"/>
              </a:ext>
            </a:extLst>
          </p:cNvPr>
          <p:cNvCxnSpPr>
            <a:cxnSpLocks/>
          </p:cNvCxnSpPr>
          <p:nvPr/>
        </p:nvCxnSpPr>
        <p:spPr>
          <a:xfrm>
            <a:off x="1948706" y="7877206"/>
            <a:ext cx="0" cy="25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2592EA1C-309B-F0F4-4DA7-73E301A4F170}"/>
              </a:ext>
            </a:extLst>
          </p:cNvPr>
          <p:cNvCxnSpPr>
            <a:cxnSpLocks/>
          </p:cNvCxnSpPr>
          <p:nvPr/>
        </p:nvCxnSpPr>
        <p:spPr>
          <a:xfrm>
            <a:off x="1948706" y="8439181"/>
            <a:ext cx="0" cy="25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E4DF52FC-C568-6F68-1313-E4856C52886F}"/>
              </a:ext>
            </a:extLst>
          </p:cNvPr>
          <p:cNvCxnSpPr>
            <a:cxnSpLocks/>
          </p:cNvCxnSpPr>
          <p:nvPr/>
        </p:nvCxnSpPr>
        <p:spPr>
          <a:xfrm>
            <a:off x="1948706" y="8972581"/>
            <a:ext cx="0" cy="25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07D489AE-1FB9-04FF-97D4-BCBC895A4A26}"/>
              </a:ext>
            </a:extLst>
          </p:cNvPr>
          <p:cNvSpPr/>
          <p:nvPr/>
        </p:nvSpPr>
        <p:spPr>
          <a:xfrm>
            <a:off x="4120410" y="7139395"/>
            <a:ext cx="2650061" cy="16816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178" name="TextBox 11">
            <a:extLst>
              <a:ext uri="{FF2B5EF4-FFF2-40B4-BE49-F238E27FC236}">
                <a16:creationId xmlns:a16="http://schemas.microsoft.com/office/drawing/2014/main" id="{40960087-1961-541C-BB8F-ECB438BA914D}"/>
              </a:ext>
            </a:extLst>
          </p:cNvPr>
          <p:cNvSpPr txBox="1"/>
          <p:nvPr/>
        </p:nvSpPr>
        <p:spPr>
          <a:xfrm>
            <a:off x="4459184" y="7264824"/>
            <a:ext cx="2043448" cy="369320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DS validates primer specificity by ensuring only target regions amplified</a:t>
            </a:r>
          </a:p>
        </p:txBody>
      </p:sp>
      <p:sp>
        <p:nvSpPr>
          <p:cNvPr id="179" name="TextBox 11">
            <a:extLst>
              <a:ext uri="{FF2B5EF4-FFF2-40B4-BE49-F238E27FC236}">
                <a16:creationId xmlns:a16="http://schemas.microsoft.com/office/drawing/2014/main" id="{4651C939-F519-2A16-F002-05143AEFB912}"/>
              </a:ext>
            </a:extLst>
          </p:cNvPr>
          <p:cNvSpPr txBox="1"/>
          <p:nvPr/>
        </p:nvSpPr>
        <p:spPr>
          <a:xfrm>
            <a:off x="4067738" y="7759233"/>
            <a:ext cx="268501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Multiple replicates and +/- controls to detect contamination / non-specific binding</a:t>
            </a:r>
          </a:p>
        </p:txBody>
      </p:sp>
      <p:sp>
        <p:nvSpPr>
          <p:cNvPr id="180" name="TextBox 18">
            <a:extLst>
              <a:ext uri="{FF2B5EF4-FFF2-40B4-BE49-F238E27FC236}">
                <a16:creationId xmlns:a16="http://schemas.microsoft.com/office/drawing/2014/main" id="{2FB5310D-B431-FFF6-8173-9EE28BC25F18}"/>
              </a:ext>
            </a:extLst>
          </p:cNvPr>
          <p:cNvSpPr txBox="1"/>
          <p:nvPr/>
        </p:nvSpPr>
        <p:spPr>
          <a:xfrm>
            <a:off x="4459184" y="8360215"/>
            <a:ext cx="2058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Libraries are quantified prepared/purified sample amplicons 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289EE6B-79EA-7958-33AE-5B3009E60121}"/>
              </a:ext>
            </a:extLst>
          </p:cNvPr>
          <p:cNvCxnSpPr>
            <a:cxnSpLocks/>
            <a:stCxn id="158" idx="3"/>
            <a:endCxn id="177" idx="0"/>
          </p:cNvCxnSpPr>
          <p:nvPr/>
        </p:nvCxnSpPr>
        <p:spPr>
          <a:xfrm>
            <a:off x="3702773" y="6492051"/>
            <a:ext cx="1742668" cy="647344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786617F-7F1F-7FC1-E373-60634D7E34C1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3562589" y="8821009"/>
            <a:ext cx="1882852" cy="787919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B7C0BF0-292C-ACAA-D5E1-7F8C660455EA}"/>
              </a:ext>
            </a:extLst>
          </p:cNvPr>
          <p:cNvSpPr txBox="1"/>
          <p:nvPr/>
        </p:nvSpPr>
        <p:spPr>
          <a:xfrm>
            <a:off x="1047207" y="5778901"/>
            <a:ext cx="47635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/>
              <a:t>Step 3: Additional Validation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404292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434</Words>
  <Application>Microsoft Office PowerPoint</Application>
  <PresentationFormat>A4 Paper (210x297 mm)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Calum Young (PGR)</dc:creator>
  <cp:lastModifiedBy>Calum Young (PGR)</cp:lastModifiedBy>
  <cp:revision>3</cp:revision>
  <dcterms:created xsi:type="dcterms:W3CDTF">2025-05-29T11:35:33Z</dcterms:created>
  <dcterms:modified xsi:type="dcterms:W3CDTF">2025-05-29T14:03:32Z</dcterms:modified>
</cp:coreProperties>
</file>